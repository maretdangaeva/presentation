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Цель урока: научиться отличать наблюдаемые признаки от догадок, учитывать контекст, задавать уточняющие вопросы и говорить о чувствах без обвинений.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Спросите: «Какими разными голосами можно сказать “Ну ладно”?» Пригласите 2–3 детей произнести фразу радостно, раздражённо и неуверенно. Не оценивайте эмоцию как единственно верную.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Сообщение от Дениса: «Спутник вернулся уверенным: теперь я вижу настроение любого человека. Но датчик выдал три ответа. Научите его говорить “возможно” и проверять догадку вопросом».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Дайте детям произнести одну фразу тремя способами. Подведите к выводу: слова не меняются, но темп, громкость и паузы меняют наше впечатление.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Переход: «Сначала проверим картинку. Что можно увидеть, а что мы уже додумываем?»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Покажите робота без подписи. Дети называют только видимые признаки: лёгкая улыбка, опущенные плечи, наклон головы. Для 1–2 классов можно предлагать выбор из карточек.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Спросите: «“Он улыбается” — это факт или догадка? А “он счастлив”?» Ожидаемый ответ: улыбка — видимый признак; счастье — предположение.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Попросите минимум две версии. Подчеркните: цель не угадать «правильную эмоцию», а показать несколько разумных объяснений.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Промпт для демонстрации: «Посмотри на картинку вымышленного героя. Назови два видимых признака и две возможные эмоции. Не утверждай, что знаешь чувства героя. Контекст: робот только что проиграл конкурс, но улыбается другу. Как контекст влияет на версии? Ответь коротко».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Итог этапа: ребёнок отличает внешний признак от гипотезы и замечает, как контекст влияет на интерпретацию.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Используйте только заранее записанный голос взрослого. Не записывайте детей. Сначала собираем версии группы, затем загружаем тот же файл в Алису AI. Если анализ аудио недоступен, используйте GigaChat с тем же промптом.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Включите три записи взрослого: А, Б, В. Дети выбирают предполагаемую интонацию. Аудиофайлы в конспект не вложены, поэтому перед уроком их нужно записать и проверить.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После каждого ответа просите назвать слышимый признак: темп, громкость, пауза. Настоящие чувства говорящего всё равно остаются неизвестными.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Промпт: «Прослушай прикреплённое аудио именно как звук, а не только как текст. Какой тон у фразы “Ну хорошо” более вероятен: радостный, раздражённый или неуверенный? Назови один-два слышимых признака (темп, громкость, паузы). Если тебе доступна только расшифровка слов, прямо скажи об этом. Не утверждай, что знаешь настоящие чувства говорящего. Ответь коротко, для детей 7–10 лет».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Если ИИ выбрал другую эмоцию, спросите: «Кто обязательно ошибся?» Вывод: разные слушатели могут предложить разные версии; истинные чувства неизвестны.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Скажите: чувства не плохие. Но мы можем выбрать слова, которые помогают объяснить ситуацию и попросить о нужном действии.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Спросите, чем отличаются реплики. Нужные признаки: нет обвинения; описано событие; названо чувство; есть конкретная просьба.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Точная формула для детей: «Когда [что произошло], я чувствую [эмоция]. Пожалуйста, [конкретная просьба]».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1–2 классы собирают фразу из готовых карточек. 3–4 классы предлагают собственную версию. Достаточно 1–2 реплик.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Откройте файл «Эмо_выбор_расширенная_новелла_урок_18.html» на компьютере преподавателя. В материалах пользователя самого HTML-файла нет; добавьте ссылку/файл перед уроком.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Спросите: «Злость — плохая эмоция? Может ли тревога подсказать что-то полезное?» Вывод: эмоции не запрещены; важно, как мы действуем.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Покажите четыре индикатора и попросите придумать по одной фразе, которую могла бы подсказать каждая эмоция.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Лена без обсуждения начала заголовок общего плаката. Намерение неизвестно. Дети выбирают факт, две возможные эмоции и реплику. Хороший ответ не обязан сразу привести к согласию.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Сначала дети называют факт: Макс написал «Ну ладно…». Решение Арчи «Макс сердится» — догадка. Новый контекст появляется после уточняющего вопроса.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Смущение предлагает молчать, тревога — думать «все осуждают». Но это не факты. Попросите составить фразу о волнении и конкретную просьбу о помощи.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Используйте этот слайд как итог трёх глав. Попросите ребёнка провести по маршруту один пример из новеллы.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1–2 классы выбирают готовые варианты. 3–4 классы записывают сами. В конспекте используется Holst, но ссылка не приложена — этот слайд можно использовать как экранную карточку.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Промпт: «Ты — вымышленный робот Арчи для учебной игры с детьми 7–10 лет. Мы вместе готовим школьный праздник, но у нас разные идеи о музыке. Ты добрый, немного упрямый, не грубишь и не соглашаешься сразу. Начни разговор с одной короткой реплики. Потом отвечай строго по одной реплике (не более 18 слов), жди ответа детей. Не спрашивай о реальной личной жизни и не давай психологических советов. Игра вымышленная». Учитель отправляет ответы; дети не регистрируются.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Промпт «Неожиданный ход»: «Мы придумали вымышленную сцену: [одна фраза]. Есть два варианта ответа: А — [реплика], Б — [реплика]. Предложи по одному возможному, реалистичному и понятному детям продолжению для каждого. Не делай вид, что знаешь чувства героев наверняка. Ответь кратко».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Покажите 2–3 работы. Авторы читают только ситуацию и варианты ответа; группа выбирает, предсказывает продолжение, затем сравнивает с замыслом автора.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Финальный вопрос: «Назови один видимый или слышимый признак, одну догадку и одну вежливую просьбу». Для базовой версии точный итог: каждый выбрал удачную реплику и объяснил свой выбор.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_WIDE">
    <p:bg>
      <p:bgPr>
        <a:solidFill>
          <a:srgbClr val="F6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hyperlink" Target="https://chat.qwen.ai/" TargetMode="External"/><Relationship Id="rId1" Type="http://schemas.openxmlformats.org/officeDocument/2006/relationships/image" Target="../media/image-28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workspace/generated_images/exec-eaab75db-061a-42af-9dd4-bda02c293e9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2148840"/>
          </a:xfrm>
          <a:prstGeom prst="rect">
            <a:avLst/>
          </a:prstGeom>
          <a:solidFill>
            <a:srgbClr val="21113C">
              <a:alpha val="6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5440680"/>
            <a:ext cx="12191695" cy="1417320"/>
          </a:xfrm>
          <a:prstGeom prst="rect">
            <a:avLst/>
          </a:prstGeom>
          <a:solidFill>
            <a:srgbClr val="21113C">
              <a:alpha val="5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46304" y="146304"/>
            <a:ext cx="11896344" cy="6528816"/>
          </a:xfrm>
          <a:prstGeom prst="roundRect">
            <a:avLst>
              <a:gd name="adj" fmla="val 1120"/>
            </a:avLst>
          </a:prstGeom>
          <a:solidFill>
            <a:srgbClr val="21113C">
              <a:alpha val="0"/>
            </a:srgbClr>
          </a:solidFill>
          <a:ln w="12700">
            <a:solidFill>
              <a:srgbClr val="D65CFF">
                <a:alpha val="8800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02920" y="310896"/>
            <a:ext cx="2834640" cy="0"/>
          </a:xfrm>
          <a:prstGeom prst="line">
            <a:avLst/>
          </a:prstGeom>
          <a:noFill/>
          <a:ln w="12700">
            <a:solidFill>
              <a:srgbClr val="FF9D32">
                <a:alpha val="88000"/>
              </a:srgbClr>
            </a:solidFill>
            <a:prstDash val="solid"/>
            <a:headEnd type="none"/>
            <a:tailEnd type="none"/>
          </a:ln>
        </p:spPr>
      </p:sp>
      <p:sp>
        <p:nvSpPr>
          <p:cNvPr id="7" name="Shape 4"/>
          <p:cNvSpPr/>
          <p:nvPr/>
        </p:nvSpPr>
        <p:spPr>
          <a:xfrm>
            <a:off x="8915400" y="310896"/>
            <a:ext cx="2724912" cy="0"/>
          </a:xfrm>
          <a:prstGeom prst="line">
            <a:avLst/>
          </a:prstGeom>
          <a:noFill/>
          <a:ln w="12700">
            <a:solidFill>
              <a:srgbClr val="9A5BDC">
                <a:alpha val="90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02920" y="6519672"/>
            <a:ext cx="1828800" cy="0"/>
          </a:xfrm>
          <a:prstGeom prst="line">
            <a:avLst/>
          </a:prstGeom>
          <a:noFill/>
          <a:ln w="12700">
            <a:solidFill>
              <a:srgbClr val="9A5BDC">
                <a:alpha val="80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893808" y="6519672"/>
            <a:ext cx="1737360" cy="0"/>
          </a:xfrm>
          <a:prstGeom prst="line">
            <a:avLst/>
          </a:prstGeom>
          <a:noFill/>
          <a:ln w="12700">
            <a:solidFill>
              <a:srgbClr val="FF9D32">
                <a:alpha val="80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85800" y="402336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ЮНЫЕ ИССЛЕДОВАТЕЛИ ИСКУССТВЕННОГО ИНТЕЛЛЕКТА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13232" y="804672"/>
            <a:ext cx="10771632" cy="1152144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50800" dir="2700000">
              <a:srgbClr val="FF7A00">
                <a:alpha val="52000"/>
              </a:srgbClr>
            </a:outerShdw>
          </a:effectLst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900" b="1" dirty="0">
                <a:ln w="19050">
                  <a:solidFill>
                    <a:srgbClr val="FF7A00"/>
                  </a:solidFill>
                </a:ln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ЭМОЦИОНАЛЬНЫЙ</a:t>
            </a:r>
            <a:endParaRPr lang="en-US" sz="2900" dirty="0"/>
          </a:p>
          <a:p>
            <a:pPr algn="ctr" indent="0" marL="0">
              <a:buNone/>
            </a:pPr>
            <a:r>
              <a:rPr lang="en-US" sz="2900" b="1" dirty="0">
                <a:ln w="19050">
                  <a:solidFill>
                    <a:srgbClr val="FF7A00"/>
                  </a:solidFill>
                </a:ln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ИНТЕЛЛЕКТ И КОММУНИКАЦИЯ</a:t>
            </a:r>
            <a:endParaRPr lang="en-US" sz="2900" dirty="0"/>
          </a:p>
        </p:txBody>
      </p:sp>
      <p:sp>
        <p:nvSpPr>
          <p:cNvPr id="12" name="Shape 9"/>
          <p:cNvSpPr/>
          <p:nvPr/>
        </p:nvSpPr>
        <p:spPr>
          <a:xfrm>
            <a:off x="4956048" y="5632704"/>
            <a:ext cx="2286000" cy="384048"/>
          </a:xfrm>
          <a:prstGeom prst="roundRect">
            <a:avLst>
              <a:gd name="adj" fmla="val 28571"/>
            </a:avLst>
          </a:prstGeom>
          <a:solidFill>
            <a:srgbClr val="6D34AC"/>
          </a:solidFill>
          <a:ln w="12700">
            <a:solidFill>
              <a:srgbClr val="6D34AC"/>
            </a:solidFill>
            <a:prstDash val="solid"/>
          </a:ln>
          <a:effectLst>
            <a:outerShdw sx="100000" sy="100000" kx="0" ky="0" algn="bl" rotWithShape="0" blurRad="25400" dist="50800" dir="2700000">
              <a:srgbClr val="6D34AC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5029200" y="5650992"/>
            <a:ext cx="21396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УРОК 18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3063240" y="6172200"/>
            <a:ext cx="6062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Эмоции предлагают — человек выбирает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1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463040"/>
            <a:ext cx="4754880" cy="3749040"/>
          </a:xfrm>
          <a:prstGeom prst="ellipse">
            <a:avLst/>
          </a:prstGeom>
          <a:solidFill>
            <a:srgbClr val="F2DFFF">
              <a:alpha val="8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26880" y="4389120"/>
            <a:ext cx="3749040" cy="2926080"/>
          </a:xfrm>
          <a:prstGeom prst="ellipse">
            <a:avLst/>
          </a:prstGeom>
          <a:solidFill>
            <a:srgbClr val="FFE2C6">
              <a:alpha val="7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6304" y="146304"/>
            <a:ext cx="11896344" cy="6528816"/>
          </a:xfrm>
          <a:prstGeom prst="roundRect">
            <a:avLst>
              <a:gd name="adj" fmla="val 1120"/>
            </a:avLst>
          </a:prstGeom>
          <a:solidFill>
            <a:srgbClr val="FFFFFF">
              <a:alpha val="0"/>
            </a:srgbClr>
          </a:solidFill>
          <a:ln w="12700">
            <a:solidFill>
              <a:srgbClr val="B860E8">
                <a:alpha val="8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310896"/>
            <a:ext cx="2834640" cy="0"/>
          </a:xfrm>
          <a:prstGeom prst="line">
            <a:avLst/>
          </a:prstGeom>
          <a:noFill/>
          <a:ln w="12700">
            <a:solidFill>
              <a:srgbClr val="FF9D32">
                <a:alpha val="88000"/>
              </a:srgbClr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8915400" y="310896"/>
            <a:ext cx="2724912" cy="0"/>
          </a:xfrm>
          <a:prstGeom prst="line">
            <a:avLst/>
          </a:prstGeom>
          <a:noFill/>
          <a:ln w="12700">
            <a:solidFill>
              <a:srgbClr val="9A5BDC">
                <a:alpha val="9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6519672"/>
            <a:ext cx="1828800" cy="0"/>
          </a:xfrm>
          <a:prstGeom prst="line">
            <a:avLst/>
          </a:prstGeom>
          <a:noFill/>
          <a:ln w="12700">
            <a:solidFill>
              <a:srgbClr val="9A5BDC">
                <a:alpha val="8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893808" y="6519672"/>
            <a:ext cx="1737360" cy="0"/>
          </a:xfrm>
          <a:prstGeom prst="line">
            <a:avLst/>
          </a:prstGeom>
          <a:noFill/>
          <a:ln w="12700">
            <a:solidFill>
              <a:srgbClr val="FF9D32">
                <a:alpha val="8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2064" y="34747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D34A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ЛАБОРАТОРИЯ ИИ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023360" y="329184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F6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ВХОД В ТЕМУ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235440" y="347472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7A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0–6 МИН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1109960" y="320040"/>
            <a:ext cx="502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D34A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76656" y="621792"/>
            <a:ext cx="10835640" cy="585216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50800" dir="2700000">
              <a:srgbClr val="7430A7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ln w="15240">
                  <a:solidFill>
                    <a:srgbClr val="FFFFFF"/>
                  </a:solidFill>
                </a:ln>
                <a:solidFill>
                  <a:srgbClr val="FF7A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СБОЙ ЭМО-РАДАРА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1051560" y="1170432"/>
            <a:ext cx="10104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414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Одна фраза — несколько возможных смыслов</a:t>
            </a:r>
            <a:endParaRPr lang="en-US" sz="1250" dirty="0"/>
          </a:p>
        </p:txBody>
      </p:sp>
      <p:pic>
        <p:nvPicPr>
          <p:cNvPr id="15" name="Image 0" descr="/tmp/lesson18_assets/satell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9921" y="1353312"/>
            <a:ext cx="2277254" cy="4983480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3246120" y="1673352"/>
            <a:ext cx="50749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FF7A00">
                <a:alpha val="78000"/>
              </a:srgbClr>
            </a:solidFill>
            <a:prstDash val="solid"/>
          </a:ln>
          <a:effectLst>
            <a:outerShdw sx="100000" sy="100000" kx="0" ky="0" algn="bl" rotWithShape="0" blurRad="322580000" dist="645160000" dir="162000000000">
              <a:srgbClr val="6D34AC">
                <a:alpha val="120000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3410712" y="1819656"/>
            <a:ext cx="109728" cy="758952"/>
          </a:xfrm>
          <a:prstGeom prst="roundRect">
            <a:avLst>
              <a:gd name="adj" fmla="val 33333"/>
            </a:avLst>
          </a:prstGeom>
          <a:solidFill>
            <a:srgbClr val="FF7A0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685032" y="1810512"/>
            <a:ext cx="4453128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414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«Ну ладно…»</a:t>
            </a:r>
            <a:endParaRPr lang="en-US" sz="3000" dirty="0"/>
          </a:p>
        </p:txBody>
      </p:sp>
      <p:sp>
        <p:nvSpPr>
          <p:cNvPr id="19" name="Shape 16"/>
          <p:cNvSpPr/>
          <p:nvPr/>
        </p:nvSpPr>
        <p:spPr>
          <a:xfrm>
            <a:off x="3273552" y="2926080"/>
            <a:ext cx="2240280" cy="1920240"/>
          </a:xfrm>
          <a:prstGeom prst="roundRect">
            <a:avLst>
              <a:gd name="adj" fmla="val 3810"/>
            </a:avLst>
          </a:prstGeom>
          <a:solidFill>
            <a:srgbClr val="FFFFFF">
              <a:alpha val="98000"/>
            </a:srgbClr>
          </a:solidFill>
          <a:ln w="12700">
            <a:solidFill>
              <a:srgbClr val="F06666">
                <a:alpha val="78000"/>
              </a:srgbClr>
            </a:solidFill>
            <a:prstDash val="solid"/>
          </a:ln>
          <a:effectLst>
            <a:outerShdw sx="100000" sy="100000" kx="0" ky="0" algn="bl" rotWithShape="0" blurRad="4096766000000" dist="8193532000000" dir="9720000000000000">
              <a:srgbClr val="6D34AC">
                <a:alpha val="12000000000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3419856" y="3072384"/>
            <a:ext cx="566928" cy="384048"/>
          </a:xfrm>
          <a:prstGeom prst="roundRect">
            <a:avLst>
              <a:gd name="adj" fmla="val 28571"/>
            </a:avLst>
          </a:prstGeom>
          <a:solidFill>
            <a:srgbClr val="F0666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419856" y="304495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!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4078224" y="3063240"/>
            <a:ext cx="125272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414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Версия 1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3474720" y="3584448"/>
            <a:ext cx="1837944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414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Он сердится?</a:t>
            </a:r>
            <a:endParaRPr lang="en-US" sz="1800" dirty="0"/>
          </a:p>
        </p:txBody>
      </p:sp>
      <p:sp>
        <p:nvSpPr>
          <p:cNvPr id="24" name="Shape 21"/>
          <p:cNvSpPr/>
          <p:nvPr/>
        </p:nvSpPr>
        <p:spPr>
          <a:xfrm>
            <a:off x="5623560" y="2926080"/>
            <a:ext cx="2240280" cy="1920240"/>
          </a:xfrm>
          <a:prstGeom prst="roundRect">
            <a:avLst>
              <a:gd name="adj" fmla="val 3810"/>
            </a:avLst>
          </a:prstGeom>
          <a:solidFill>
            <a:srgbClr val="FFFFFF">
              <a:alpha val="98000"/>
            </a:srgbClr>
          </a:solidFill>
          <a:ln w="12700">
            <a:solidFill>
              <a:srgbClr val="47C9FF">
                <a:alpha val="78000"/>
              </a:srgbClr>
            </a:solidFill>
            <a:prstDash val="solid"/>
          </a:ln>
          <a:effectLst>
            <a:outerShdw sx="100000" sy="100000" kx="0" ky="0" algn="bl" rotWithShape="0" blurRad="52028928200000000" dist="104057856400000000" dir="583200000000000000000">
              <a:srgbClr val="6D34AC">
                <a:alpha val="12000000000000000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5769864" y="3072384"/>
            <a:ext cx="566928" cy="384048"/>
          </a:xfrm>
          <a:prstGeom prst="roundRect">
            <a:avLst>
              <a:gd name="adj" fmla="val 28571"/>
            </a:avLst>
          </a:prstGeom>
          <a:solidFill>
            <a:srgbClr val="47C9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769864" y="304495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≈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6428232" y="3063240"/>
            <a:ext cx="125272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414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Версия 2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5824728" y="3584448"/>
            <a:ext cx="1837944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414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Он устал?</a:t>
            </a:r>
            <a:endParaRPr lang="en-US" sz="1800" dirty="0"/>
          </a:p>
        </p:txBody>
      </p:sp>
      <p:sp>
        <p:nvSpPr>
          <p:cNvPr id="29" name="Shape 26"/>
          <p:cNvSpPr/>
          <p:nvPr/>
        </p:nvSpPr>
        <p:spPr>
          <a:xfrm>
            <a:off x="7973568" y="2926080"/>
            <a:ext cx="2240280" cy="1920240"/>
          </a:xfrm>
          <a:prstGeom prst="roundRect">
            <a:avLst>
              <a:gd name="adj" fmla="val 3810"/>
            </a:avLst>
          </a:prstGeom>
          <a:solidFill>
            <a:srgbClr val="FFFFFF">
              <a:alpha val="98000"/>
            </a:srgbClr>
          </a:solidFill>
          <a:ln w="12700">
            <a:solidFill>
              <a:srgbClr val="FFD35A">
                <a:alpha val="78000"/>
              </a:srgbClr>
            </a:solidFill>
            <a:prstDash val="solid"/>
          </a:ln>
          <a:effectLst>
            <a:outerShdw sx="100000" sy="100000" kx="0" ky="0" algn="bl" rotWithShape="0" blurRad="660767388140000000000" dist="1.32153477628e+21" dir="3.4992e+25">
              <a:srgbClr val="6D34AC">
                <a:alpha val="1.2e+24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8119872" y="3072384"/>
            <a:ext cx="566928" cy="384048"/>
          </a:xfrm>
          <a:prstGeom prst="roundRect">
            <a:avLst>
              <a:gd name="adj" fmla="val 28571"/>
            </a:avLst>
          </a:prstGeom>
          <a:solidFill>
            <a:srgbClr val="FFD35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8119872" y="304495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?</a:t>
            </a:r>
            <a:endParaRPr lang="en-US" sz="1800" dirty="0"/>
          </a:p>
        </p:txBody>
      </p:sp>
      <p:sp>
        <p:nvSpPr>
          <p:cNvPr id="32" name="Text 29"/>
          <p:cNvSpPr/>
          <p:nvPr/>
        </p:nvSpPr>
        <p:spPr>
          <a:xfrm>
            <a:off x="8778240" y="3063240"/>
            <a:ext cx="125272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414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Версия 3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8174736" y="3584448"/>
            <a:ext cx="1837944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414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Он согласился?</a:t>
            </a:r>
            <a:endParaRPr lang="en-US" sz="1700" dirty="0"/>
          </a:p>
        </p:txBody>
      </p:sp>
      <p:sp>
        <p:nvSpPr>
          <p:cNvPr id="34" name="Shape 31"/>
          <p:cNvSpPr/>
          <p:nvPr/>
        </p:nvSpPr>
        <p:spPr>
          <a:xfrm>
            <a:off x="3886200" y="5266944"/>
            <a:ext cx="5806440" cy="384048"/>
          </a:xfrm>
          <a:prstGeom prst="roundRect">
            <a:avLst>
              <a:gd name="adj" fmla="val 28571"/>
            </a:avLst>
          </a:prstGeom>
          <a:solidFill>
            <a:srgbClr val="21113C"/>
          </a:solidFill>
          <a:ln w="12700">
            <a:solidFill>
              <a:srgbClr val="21113C"/>
            </a:solidFill>
            <a:prstDash val="solid"/>
          </a:ln>
          <a:effectLst>
            <a:outerShdw sx="100000" sy="100000" kx="0" ky="0" algn="bl" rotWithShape="0" blurRad="8.391745829378e+24" dist="1.6783491658756e+25" dir="2.09952e+30">
              <a:srgbClr val="6D34AC">
                <a:alpha val="1.2e+29"/>
              </a:srgbClr>
            </a:outerShdw>
          </a:effectLst>
        </p:spPr>
      </p:sp>
      <p:sp>
        <p:nvSpPr>
          <p:cNvPr id="35" name="Text 32"/>
          <p:cNvSpPr/>
          <p:nvPr/>
        </p:nvSpPr>
        <p:spPr>
          <a:xfrm>
            <a:off x="3959352" y="5285232"/>
            <a:ext cx="56601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Можно ли узнать точно?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1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463040"/>
            <a:ext cx="4754880" cy="3749040"/>
          </a:xfrm>
          <a:prstGeom prst="ellipse">
            <a:avLst/>
          </a:prstGeom>
          <a:solidFill>
            <a:srgbClr val="F2DFFF">
              <a:alpha val="8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26880" y="4389120"/>
            <a:ext cx="3749040" cy="2926080"/>
          </a:xfrm>
          <a:prstGeom prst="ellipse">
            <a:avLst/>
          </a:prstGeom>
          <a:solidFill>
            <a:srgbClr val="FFE2C6">
              <a:alpha val="7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6304" y="146304"/>
            <a:ext cx="11896344" cy="6528816"/>
          </a:xfrm>
          <a:prstGeom prst="roundRect">
            <a:avLst>
              <a:gd name="adj" fmla="val 1120"/>
            </a:avLst>
          </a:prstGeom>
          <a:solidFill>
            <a:srgbClr val="FFFFFF">
              <a:alpha val="0"/>
            </a:srgbClr>
          </a:solidFill>
          <a:ln w="12700">
            <a:solidFill>
              <a:srgbClr val="B860E8">
                <a:alpha val="8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310896"/>
            <a:ext cx="2834640" cy="0"/>
          </a:xfrm>
          <a:prstGeom prst="line">
            <a:avLst/>
          </a:prstGeom>
          <a:noFill/>
          <a:ln w="12700">
            <a:solidFill>
              <a:srgbClr val="FF9D32">
                <a:alpha val="88000"/>
              </a:srgbClr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8915400" y="310896"/>
            <a:ext cx="2724912" cy="0"/>
          </a:xfrm>
          <a:prstGeom prst="line">
            <a:avLst/>
          </a:prstGeom>
          <a:noFill/>
          <a:ln w="12700">
            <a:solidFill>
              <a:srgbClr val="9A5BDC">
                <a:alpha val="9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6519672"/>
            <a:ext cx="1828800" cy="0"/>
          </a:xfrm>
          <a:prstGeom prst="line">
            <a:avLst/>
          </a:prstGeom>
          <a:noFill/>
          <a:ln w="12700">
            <a:solidFill>
              <a:srgbClr val="9A5BDC">
                <a:alpha val="8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893808" y="6519672"/>
            <a:ext cx="1737360" cy="0"/>
          </a:xfrm>
          <a:prstGeom prst="line">
            <a:avLst/>
          </a:prstGeom>
          <a:noFill/>
          <a:ln w="12700">
            <a:solidFill>
              <a:srgbClr val="FF9D32">
                <a:alpha val="8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2064" y="34747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D34A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ЛАБОРАТОРИЯ ИИ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023360" y="329184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F6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ВХОД В ТЕМУ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235440" y="347472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7A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0–6 МИН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1109960" y="320040"/>
            <a:ext cx="502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D34A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76656" y="621792"/>
            <a:ext cx="10835640" cy="585216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50800" dir="2700000">
              <a:srgbClr val="7430A7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ln w="15240">
                  <a:solidFill>
                    <a:srgbClr val="FFFFFF"/>
                  </a:solidFill>
                </a:ln>
                <a:solidFill>
                  <a:srgbClr val="FF7A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МИССИЯ ОТ ДЕНИСА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1051560" y="1170432"/>
            <a:ext cx="10104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414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Научим радар не угадывать слишком уверенно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85800" y="1572768"/>
            <a:ext cx="6784848" cy="4407408"/>
          </a:xfrm>
          <a:prstGeom prst="roundRect">
            <a:avLst>
              <a:gd name="adj" fmla="val 1660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9A5BDC">
                <a:alpha val="78000"/>
              </a:srgbClr>
            </a:solidFill>
            <a:prstDash val="solid"/>
          </a:ln>
          <a:effectLst>
            <a:outerShdw sx="100000" sy="100000" kx="0" ky="0" algn="bl" rotWithShape="0" blurRad="1.0657517203310059e+29" dist="2.1315034406620118e+29" dir="1.259712e+35">
              <a:srgbClr val="6D34AC">
                <a:alpha val="1.2e+34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87552" y="1810512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34A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СИГНАЛ ИЗ ЛАБОРАТОРИИ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87552" y="2286000"/>
            <a:ext cx="587044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2414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«Эмо-радар выдал три ответа</a:t>
            </a:r>
            <a:endParaRPr lang="en-US" sz="2100" dirty="0"/>
          </a:p>
          <a:p>
            <a:pPr indent="0" marL="0">
              <a:buNone/>
            </a:pPr>
            <a:r>
              <a:rPr lang="en-US" sz="2100" b="1" dirty="0">
                <a:solidFill>
                  <a:srgbClr val="2414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на одну фразу. Помогите ему</a:t>
            </a:r>
            <a:endParaRPr lang="en-US" sz="2100" dirty="0"/>
          </a:p>
          <a:p>
            <a:pPr indent="0" marL="0">
              <a:buNone/>
            </a:pPr>
            <a:r>
              <a:rPr lang="en-US" sz="2100" b="1" dirty="0">
                <a:solidFill>
                  <a:srgbClr val="2414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замечать признаки и задавать вопросы!»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932688" y="4114800"/>
            <a:ext cx="1965960" cy="749808"/>
          </a:xfrm>
          <a:prstGeom prst="chevron">
            <a:avLst/>
          </a:prstGeom>
          <a:solidFill>
            <a:srgbClr val="FF7A00">
              <a:alpha val="98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  <a:effectLst>
            <a:outerShdw sx="100000" sy="100000" kx="0" ky="0" algn="bl" rotWithShape="0" blurRad="1.3535046848203775e+33" dist="2.707009369640755e+33" dir="7.558272e+39">
              <a:srgbClr val="6D34AC">
                <a:alpha val="1.1999999999999999e+39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87552" y="4187952"/>
            <a:ext cx="429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444752" y="4187952"/>
            <a:ext cx="12070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ЗАМЕТЬ</a:t>
            </a:r>
            <a:endParaRPr lang="en-US" sz="1220" dirty="0"/>
          </a:p>
        </p:txBody>
      </p:sp>
      <p:sp>
        <p:nvSpPr>
          <p:cNvPr id="21" name="Shape 19"/>
          <p:cNvSpPr/>
          <p:nvPr/>
        </p:nvSpPr>
        <p:spPr>
          <a:xfrm>
            <a:off x="3127248" y="4114800"/>
            <a:ext cx="1965960" cy="749808"/>
          </a:xfrm>
          <a:prstGeom prst="chevron">
            <a:avLst/>
          </a:prstGeom>
          <a:solidFill>
            <a:srgbClr val="6D34AC">
              <a:alpha val="98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  <a:effectLst>
            <a:outerShdw sx="100000" sy="100000" kx="0" ky="0" algn="bl" rotWithShape="0" blurRad="1.7189509497218795e+37" dist="3.437901899443759e+37" dir="4.5349632000000006e+44">
              <a:srgbClr val="6D34AC">
                <a:alpha val="1.1999999999999999e+44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182112" y="4187952"/>
            <a:ext cx="429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3639312" y="4187952"/>
            <a:ext cx="12070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ПРЕДПОЛОЖИ</a:t>
            </a:r>
            <a:endParaRPr lang="en-US" sz="1220" dirty="0"/>
          </a:p>
        </p:txBody>
      </p:sp>
      <p:sp>
        <p:nvSpPr>
          <p:cNvPr id="24" name="Shape 22"/>
          <p:cNvSpPr/>
          <p:nvPr/>
        </p:nvSpPr>
        <p:spPr>
          <a:xfrm>
            <a:off x="5321808" y="4114800"/>
            <a:ext cx="1965960" cy="749808"/>
          </a:xfrm>
          <a:prstGeom prst="chevron">
            <a:avLst/>
          </a:prstGeom>
          <a:solidFill>
            <a:srgbClr val="6384C8">
              <a:alpha val="98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  <a:effectLst>
            <a:outerShdw sx="100000" sy="100000" kx="0" ky="0" algn="bl" rotWithShape="0" blurRad="2.183067706146787e+41" dist="4.366135412293574e+41" dir="2.72097792e+49">
              <a:srgbClr val="6D34AC">
                <a:alpha val="1.2e+49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376672" y="4187952"/>
            <a:ext cx="429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833872" y="4187952"/>
            <a:ext cx="12070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СПРОСИ</a:t>
            </a:r>
            <a:endParaRPr lang="en-US" sz="1220" dirty="0"/>
          </a:p>
        </p:txBody>
      </p:sp>
      <p:pic>
        <p:nvPicPr>
          <p:cNvPr id="27" name="Image 0" descr="/tmp/lesson18_assets/fo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89315" y="1298448"/>
            <a:ext cx="2720850" cy="5120640"/>
          </a:xfrm>
          <a:prstGeom prst="rect">
            <a:avLst/>
          </a:prstGeom>
        </p:spPr>
      </p:pic>
      <p:sp>
        <p:nvSpPr>
          <p:cNvPr id="28" name="Shape 25"/>
          <p:cNvSpPr/>
          <p:nvPr/>
        </p:nvSpPr>
        <p:spPr>
          <a:xfrm>
            <a:off x="8065008" y="5340096"/>
            <a:ext cx="3154680" cy="384048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12700">
            <a:solidFill>
              <a:srgbClr val="6D34AC"/>
            </a:solidFill>
            <a:prstDash val="solid"/>
          </a:ln>
          <a:effectLst>
            <a:outerShdw sx="100000" sy="100000" kx="0" ky="0" algn="bl" rotWithShape="0" blurRad="2.7724959868064195e+45" dist="5.544991973612839e+45" dir="1.6325867520000003e+54">
              <a:srgbClr val="6D34AC">
                <a:alpha val="1.2e+54"/>
              </a:srgbClr>
            </a:outerShdw>
          </a:effectLst>
        </p:spPr>
      </p:sp>
      <p:sp>
        <p:nvSpPr>
          <p:cNvPr id="29" name="Text 26"/>
          <p:cNvSpPr/>
          <p:nvPr/>
        </p:nvSpPr>
        <p:spPr>
          <a:xfrm>
            <a:off x="8138160" y="5358384"/>
            <a:ext cx="3008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D34A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Я могу ошибаться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1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463040"/>
            <a:ext cx="4754880" cy="3749040"/>
          </a:xfrm>
          <a:prstGeom prst="ellipse">
            <a:avLst/>
          </a:prstGeom>
          <a:solidFill>
            <a:srgbClr val="F2DFFF">
              <a:alpha val="8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26880" y="4389120"/>
            <a:ext cx="3749040" cy="2926080"/>
          </a:xfrm>
          <a:prstGeom prst="ellipse">
            <a:avLst/>
          </a:prstGeom>
          <a:solidFill>
            <a:srgbClr val="FFE2C6">
              <a:alpha val="7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6304" y="146304"/>
            <a:ext cx="11896344" cy="6528816"/>
          </a:xfrm>
          <a:prstGeom prst="roundRect">
            <a:avLst>
              <a:gd name="adj" fmla="val 1120"/>
            </a:avLst>
          </a:prstGeom>
          <a:solidFill>
            <a:srgbClr val="FFFFFF">
              <a:alpha val="0"/>
            </a:srgbClr>
          </a:solidFill>
          <a:ln w="12700">
            <a:solidFill>
              <a:srgbClr val="B860E8">
                <a:alpha val="8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310896"/>
            <a:ext cx="2834640" cy="0"/>
          </a:xfrm>
          <a:prstGeom prst="line">
            <a:avLst/>
          </a:prstGeom>
          <a:noFill/>
          <a:ln w="12700">
            <a:solidFill>
              <a:srgbClr val="FF9D32">
                <a:alpha val="88000"/>
              </a:srgbClr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8915400" y="310896"/>
            <a:ext cx="2724912" cy="0"/>
          </a:xfrm>
          <a:prstGeom prst="line">
            <a:avLst/>
          </a:prstGeom>
          <a:noFill/>
          <a:ln w="12700">
            <a:solidFill>
              <a:srgbClr val="9A5BDC">
                <a:alpha val="9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6519672"/>
            <a:ext cx="1828800" cy="0"/>
          </a:xfrm>
          <a:prstGeom prst="line">
            <a:avLst/>
          </a:prstGeom>
          <a:noFill/>
          <a:ln w="12700">
            <a:solidFill>
              <a:srgbClr val="9A5BDC">
                <a:alpha val="8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893808" y="6519672"/>
            <a:ext cx="1737360" cy="0"/>
          </a:xfrm>
          <a:prstGeom prst="line">
            <a:avLst/>
          </a:prstGeom>
          <a:noFill/>
          <a:ln w="12700">
            <a:solidFill>
              <a:srgbClr val="FF9D32">
                <a:alpha val="8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2064" y="34747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D34A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ЛАБОРАТОРИЯ ИИ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023360" y="329184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F6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ВХОД В ТЕМУ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235440" y="347472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7A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0–6 МИН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1109960" y="320040"/>
            <a:ext cx="502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D34A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76656" y="621792"/>
            <a:ext cx="10835640" cy="585216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50800" dir="2700000">
              <a:srgbClr val="7430A7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ln w="15240">
                  <a:solidFill>
                    <a:srgbClr val="FFFFFF"/>
                  </a:solidFill>
                </a:ln>
                <a:solidFill>
                  <a:srgbClr val="FF7A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СКАЖИ ПО-РАЗНОМУ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1051560" y="1170432"/>
            <a:ext cx="10104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414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Слова те же. Что меняется?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224528" y="1481328"/>
            <a:ext cx="37490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FF7A00">
                <a:alpha val="78000"/>
              </a:srgbClr>
            </a:solidFill>
            <a:prstDash val="solid"/>
          </a:ln>
          <a:effectLst>
            <a:outerShdw sx="100000" sy="100000" kx="0" ky="0" algn="bl" rotWithShape="0" blurRad="3.5210699032441527e+49" dist="7.042139806488305e+49" dir="9.795520512000002e+58">
              <a:srgbClr val="6D34AC">
                <a:alpha val="1.2e+59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389120" y="1627632"/>
            <a:ext cx="109728" cy="484632"/>
          </a:xfrm>
          <a:prstGeom prst="roundRect">
            <a:avLst>
              <a:gd name="adj" fmla="val 33333"/>
            </a:avLst>
          </a:prstGeom>
          <a:solidFill>
            <a:srgbClr val="FF7A0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3440" y="1618488"/>
            <a:ext cx="3127248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2414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«Ну ладно»</a:t>
            </a:r>
            <a:endParaRPr lang="en-US" sz="2500" dirty="0"/>
          </a:p>
        </p:txBody>
      </p:sp>
      <p:sp>
        <p:nvSpPr>
          <p:cNvPr id="18" name="Shape 16"/>
          <p:cNvSpPr/>
          <p:nvPr/>
        </p:nvSpPr>
        <p:spPr>
          <a:xfrm>
            <a:off x="950976" y="2542032"/>
            <a:ext cx="2761488" cy="2542032"/>
          </a:xfrm>
          <a:prstGeom prst="roundRect">
            <a:avLst>
              <a:gd name="adj" fmla="val 2878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FFD35A">
                <a:alpha val="78000"/>
              </a:srgbClr>
            </a:solidFill>
            <a:prstDash val="solid"/>
          </a:ln>
          <a:effectLst>
            <a:outerShdw sx="100000" sy="100000" kx="0" ky="0" algn="bl" rotWithShape="0" blurRad="4.471758777120074e+53" dist="8.943517554240149e+53" dir="5.877312307200001e+63">
              <a:srgbClr val="6D34AC">
                <a:alpha val="1.2000000000000001e+64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225296" y="2907792"/>
            <a:ext cx="22128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D3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∿∿∿</a:t>
            </a:r>
            <a:endParaRPr lang="en-US" sz="2800" dirty="0"/>
          </a:p>
        </p:txBody>
      </p:sp>
      <p:sp>
        <p:nvSpPr>
          <p:cNvPr id="20" name="Shape 18"/>
          <p:cNvSpPr/>
          <p:nvPr/>
        </p:nvSpPr>
        <p:spPr>
          <a:xfrm>
            <a:off x="1261872" y="4041648"/>
            <a:ext cx="2139696" cy="384048"/>
          </a:xfrm>
          <a:prstGeom prst="roundRect">
            <a:avLst>
              <a:gd name="adj" fmla="val 28571"/>
            </a:avLst>
          </a:prstGeom>
          <a:solidFill>
            <a:srgbClr val="FFD35A"/>
          </a:solidFill>
          <a:ln w="12700">
            <a:solidFill>
              <a:srgbClr val="FFD35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35024" y="4059936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414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РАДОСТНО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142232" y="2542032"/>
            <a:ext cx="2761488" cy="2542032"/>
          </a:xfrm>
          <a:prstGeom prst="roundRect">
            <a:avLst>
              <a:gd name="adj" fmla="val 2878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F06666">
                <a:alpha val="78000"/>
              </a:srgbClr>
            </a:solidFill>
            <a:prstDash val="solid"/>
          </a:ln>
          <a:effectLst>
            <a:outerShdw sx="100000" sy="100000" kx="0" ky="0" algn="bl" rotWithShape="0" blurRad="5.679133646942494e+57" dist="1.1358267293884988e+58" dir="3.526387384320001e+68">
              <a:srgbClr val="6D34AC">
                <a:alpha val="1.2e+69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416552" y="2907792"/>
            <a:ext cx="22128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0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▲▲▲</a:t>
            </a:r>
            <a:endParaRPr lang="en-US" sz="2800" dirty="0"/>
          </a:p>
        </p:txBody>
      </p:sp>
      <p:sp>
        <p:nvSpPr>
          <p:cNvPr id="24" name="Shape 22"/>
          <p:cNvSpPr/>
          <p:nvPr/>
        </p:nvSpPr>
        <p:spPr>
          <a:xfrm>
            <a:off x="4453128" y="4041648"/>
            <a:ext cx="2139696" cy="384048"/>
          </a:xfrm>
          <a:prstGeom prst="roundRect">
            <a:avLst>
              <a:gd name="adj" fmla="val 28571"/>
            </a:avLst>
          </a:prstGeom>
          <a:solidFill>
            <a:srgbClr val="F06666"/>
          </a:solidFill>
          <a:ln w="12700">
            <a:solidFill>
              <a:srgbClr val="F0666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26280" y="4059936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РАЗДРАЖЁННО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333488" y="2542032"/>
            <a:ext cx="2761488" cy="2542032"/>
          </a:xfrm>
          <a:prstGeom prst="roundRect">
            <a:avLst>
              <a:gd name="adj" fmla="val 2878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47C9FF">
                <a:alpha val="78000"/>
              </a:srgbClr>
            </a:solidFill>
            <a:prstDash val="solid"/>
          </a:ln>
          <a:effectLst>
            <a:outerShdw sx="100000" sy="100000" kx="0" ky="0" algn="bl" rotWithShape="0" blurRad="7.212499731616968e+61" dist="1.4424999463233936e+62" dir="2.1158324305920003e+73">
              <a:srgbClr val="6D34AC">
                <a:alpha val="1.2e+74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607808" y="2907792"/>
            <a:ext cx="22128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7C9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—  ·  —</a:t>
            </a:r>
            <a:endParaRPr lang="en-US" sz="2800" dirty="0"/>
          </a:p>
        </p:txBody>
      </p:sp>
      <p:sp>
        <p:nvSpPr>
          <p:cNvPr id="28" name="Shape 26"/>
          <p:cNvSpPr/>
          <p:nvPr/>
        </p:nvSpPr>
        <p:spPr>
          <a:xfrm>
            <a:off x="7644384" y="4041648"/>
            <a:ext cx="2139696" cy="384048"/>
          </a:xfrm>
          <a:prstGeom prst="roundRect">
            <a:avLst>
              <a:gd name="adj" fmla="val 28571"/>
            </a:avLst>
          </a:prstGeom>
          <a:solidFill>
            <a:srgbClr val="47C9FF"/>
          </a:solidFill>
          <a:ln w="12700">
            <a:solidFill>
              <a:srgbClr val="47C9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17536" y="4059936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НЕУВЕРЕННО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962656" y="5440680"/>
            <a:ext cx="6263640" cy="384048"/>
          </a:xfrm>
          <a:prstGeom prst="roundRect">
            <a:avLst>
              <a:gd name="adj" fmla="val 28571"/>
            </a:avLst>
          </a:prstGeom>
          <a:solidFill>
            <a:srgbClr val="21113C"/>
          </a:solidFill>
          <a:ln w="12700">
            <a:solidFill>
              <a:srgbClr val="21113C"/>
            </a:solidFill>
            <a:prstDash val="solid"/>
          </a:ln>
          <a:effectLst>
            <a:outerShdw sx="100000" sy="100000" kx="0" ky="0" algn="bl" rotWithShape="0" blurRad="9.15987465915355e+65" dist="1.83197493183071e+66" dir="1.2694994583552002e+78">
              <a:srgbClr val="6D34AC">
                <a:alpha val="1.2000000000000001e+79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3035808" y="5458968"/>
            <a:ext cx="6117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Что изменилось: слова или голос?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111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1280160"/>
            <a:ext cx="4114800" cy="4114800"/>
          </a:xfrm>
          <a:prstGeom prst="ellipse">
            <a:avLst/>
          </a:prstGeom>
          <a:solidFill>
            <a:srgbClr val="6D34A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84080" y="4480560"/>
            <a:ext cx="3200400" cy="3200400"/>
          </a:xfrm>
          <a:prstGeom prst="ellipse">
            <a:avLst/>
          </a:prstGeom>
          <a:solidFill>
            <a:srgbClr val="FF7A00">
              <a:alpha val="24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6304" y="146304"/>
            <a:ext cx="11896344" cy="6528816"/>
          </a:xfrm>
          <a:prstGeom prst="roundRect">
            <a:avLst>
              <a:gd name="adj" fmla="val 1120"/>
            </a:avLst>
          </a:prstGeom>
          <a:solidFill>
            <a:srgbClr val="21113C">
              <a:alpha val="0"/>
            </a:srgbClr>
          </a:solidFill>
          <a:ln w="12700">
            <a:solidFill>
              <a:srgbClr val="D65CFF">
                <a:alpha val="8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310896"/>
            <a:ext cx="2834640" cy="0"/>
          </a:xfrm>
          <a:prstGeom prst="line">
            <a:avLst/>
          </a:prstGeom>
          <a:noFill/>
          <a:ln w="12700">
            <a:solidFill>
              <a:srgbClr val="FF9D32">
                <a:alpha val="88000"/>
              </a:srgbClr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8915400" y="310896"/>
            <a:ext cx="2724912" cy="0"/>
          </a:xfrm>
          <a:prstGeom prst="line">
            <a:avLst/>
          </a:prstGeom>
          <a:noFill/>
          <a:ln w="12700">
            <a:solidFill>
              <a:srgbClr val="9A5BDC">
                <a:alpha val="9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6519672"/>
            <a:ext cx="1828800" cy="0"/>
          </a:xfrm>
          <a:prstGeom prst="line">
            <a:avLst/>
          </a:prstGeom>
          <a:noFill/>
          <a:ln w="12700">
            <a:solidFill>
              <a:srgbClr val="9A5BDC">
                <a:alpha val="8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893808" y="6519672"/>
            <a:ext cx="1737360" cy="0"/>
          </a:xfrm>
          <a:prstGeom prst="line">
            <a:avLst/>
          </a:prstGeom>
          <a:noFill/>
          <a:ln w="12700">
            <a:solidFill>
              <a:srgbClr val="FF9D32">
                <a:alpha val="8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2064" y="34747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BD8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ЛАБОРАТОРИЯ ИИ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023360" y="329184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FA7F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ГЛАВА 1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235440" y="347472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D3A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6–17 МИН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1109960" y="320040"/>
            <a:ext cx="502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76656" y="621792"/>
            <a:ext cx="10835640" cy="585216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50800" dir="2700000">
              <a:srgbClr val="B64CFF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ln w="15240">
                  <a:solidFill>
                    <a:srgbClr val="A54AD4"/>
                  </a:solidFill>
                </a:ln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ЧЕЛОВЕК ПРОТИВ ИИ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1051560" y="1170432"/>
            <a:ext cx="10104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DCC6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Тестируем Эмо-радар</a:t>
            </a:r>
            <a:endParaRPr lang="en-US" sz="1250" dirty="0"/>
          </a:p>
        </p:txBody>
      </p:sp>
      <p:pic>
        <p:nvPicPr>
          <p:cNvPr id="15" name="Image 0" descr="/workspace/generated_images/exec-eaab75db-061a-42af-9dd4-bda02c293e9d.png">    </p:cNvPr>
          <p:cNvPicPr>
            <a:picLocks noChangeAspect="1"/>
          </p:cNvPicPr>
          <p:nvPr/>
        </p:nvPicPr>
        <p:blipFill>
          <a:blip r:embed="rId1">
            <a:alphaModFix amt="92000"/>
          </a:blip>
          <a:stretch>
            <a:fillRect/>
          </a:stretch>
        </p:blipFill>
        <p:spPr>
          <a:xfrm>
            <a:off x="5989320" y="1344168"/>
            <a:ext cx="5806440" cy="4315968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5989320" y="1344168"/>
            <a:ext cx="5806440" cy="4315968"/>
          </a:xfrm>
          <a:prstGeom prst="rect">
            <a:avLst/>
          </a:prstGeom>
          <a:solidFill>
            <a:srgbClr val="21113C">
              <a:alpha val="32000"/>
            </a:srgbClr>
          </a:solidFill>
          <a:ln w="12700">
            <a:solidFill>
              <a:srgbClr val="9A5BD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49808" y="1572768"/>
            <a:ext cx="50292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МОЖНО ЛИ</a:t>
            </a:r>
            <a:endParaRPr lang="en-US" sz="2900" dirty="0"/>
          </a:p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ПРОЧИТАТЬ</a:t>
            </a:r>
            <a:endParaRPr lang="en-US" sz="2900" dirty="0"/>
          </a:p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ЧУВСТВА</a:t>
            </a:r>
            <a:endParaRPr lang="en-US" sz="2900" dirty="0"/>
          </a:p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 КАРТИНКЕ?</a:t>
            </a:r>
            <a:endParaRPr lang="en-US" sz="2900" dirty="0"/>
          </a:p>
        </p:txBody>
      </p:sp>
      <p:sp>
        <p:nvSpPr>
          <p:cNvPr id="18" name="Shape 15"/>
          <p:cNvSpPr/>
          <p:nvPr/>
        </p:nvSpPr>
        <p:spPr>
          <a:xfrm>
            <a:off x="932688" y="4773168"/>
            <a:ext cx="4096512" cy="493776"/>
          </a:xfrm>
          <a:prstGeom prst="roundRect">
            <a:avLst>
              <a:gd name="adj" fmla="val 22222"/>
            </a:avLst>
          </a:prstGeom>
          <a:solidFill>
            <a:srgbClr val="FF7A00"/>
          </a:solidFill>
          <a:ln w="12700">
            <a:solidFill>
              <a:srgbClr val="FFBE77"/>
            </a:solidFill>
            <a:prstDash val="solid"/>
          </a:ln>
          <a:effectLst>
            <a:outerShdw sx="100000" sy="100000" kx="0" ky="0" algn="bl" rotWithShape="0" blurRad="38100" dist="50800" dir="2700000">
              <a:srgbClr val="4A1A70">
                <a:alpha val="18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1042416" y="4828032"/>
            <a:ext cx="3877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НАЧАТЬ ТЕСТ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7059168" y="5074920"/>
            <a:ext cx="3703320" cy="384048"/>
          </a:xfrm>
          <a:prstGeom prst="roundRect">
            <a:avLst>
              <a:gd name="adj" fmla="val 28571"/>
            </a:avLst>
          </a:prstGeom>
          <a:solidFill>
            <a:srgbClr val="6D34AC"/>
          </a:solidFill>
          <a:ln w="12700">
            <a:solidFill>
              <a:srgbClr val="6D34AC"/>
            </a:solidFill>
            <a:prstDash val="solid"/>
          </a:ln>
          <a:effectLst>
            <a:outerShdw sx="100000" sy="100000" kx="0" ky="0" algn="bl" rotWithShape="0" blurRad="1.1633040817125008e+70" dist="2.3266081634250016e+70" dir="7.616996750131201e+82">
              <a:srgbClr val="6D34AC">
                <a:alpha val="1.2000000000000002e+84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7132320" y="5093208"/>
            <a:ext cx="35570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ФАКТ  ≠  ДОГАДКА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1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463040"/>
            <a:ext cx="4754880" cy="3749040"/>
          </a:xfrm>
          <a:prstGeom prst="ellipse">
            <a:avLst/>
          </a:prstGeom>
          <a:solidFill>
            <a:srgbClr val="F2DFFF">
              <a:alpha val="8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26880" y="4389120"/>
            <a:ext cx="3749040" cy="2926080"/>
          </a:xfrm>
          <a:prstGeom prst="ellipse">
            <a:avLst/>
          </a:prstGeom>
          <a:solidFill>
            <a:srgbClr val="FFE2C6">
              <a:alpha val="7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6304" y="146304"/>
            <a:ext cx="11896344" cy="6528816"/>
          </a:xfrm>
          <a:prstGeom prst="roundRect">
            <a:avLst>
              <a:gd name="adj" fmla="val 1120"/>
            </a:avLst>
          </a:prstGeom>
          <a:solidFill>
            <a:srgbClr val="FFFFFF">
              <a:alpha val="0"/>
            </a:srgbClr>
          </a:solidFill>
          <a:ln w="12700">
            <a:solidFill>
              <a:srgbClr val="B860E8">
                <a:alpha val="8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310896"/>
            <a:ext cx="2834640" cy="0"/>
          </a:xfrm>
          <a:prstGeom prst="line">
            <a:avLst/>
          </a:prstGeom>
          <a:noFill/>
          <a:ln w="12700">
            <a:solidFill>
              <a:srgbClr val="FF9D32">
                <a:alpha val="88000"/>
              </a:srgbClr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8915400" y="310896"/>
            <a:ext cx="2724912" cy="0"/>
          </a:xfrm>
          <a:prstGeom prst="line">
            <a:avLst/>
          </a:prstGeom>
          <a:noFill/>
          <a:ln w="12700">
            <a:solidFill>
              <a:srgbClr val="9A5BDC">
                <a:alpha val="9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6519672"/>
            <a:ext cx="1828800" cy="0"/>
          </a:xfrm>
          <a:prstGeom prst="line">
            <a:avLst/>
          </a:prstGeom>
          <a:noFill/>
          <a:ln w="12700">
            <a:solidFill>
              <a:srgbClr val="9A5BDC">
                <a:alpha val="8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893808" y="6519672"/>
            <a:ext cx="1737360" cy="0"/>
          </a:xfrm>
          <a:prstGeom prst="line">
            <a:avLst/>
          </a:prstGeom>
          <a:noFill/>
          <a:ln w="12700">
            <a:solidFill>
              <a:srgbClr val="FF9D32">
                <a:alpha val="8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2064" y="34747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D34A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ЛАБОРАТОРИЯ ИИ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023360" y="329184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F6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ЧЕЛОВЕК ПРОТИВ ИИ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235440" y="347472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7A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6–10 МИН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1109960" y="320040"/>
            <a:ext cx="502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D34A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06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76656" y="621792"/>
            <a:ext cx="10835640" cy="585216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50800" dir="2700000">
              <a:srgbClr val="7430A7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ln w="15240">
                  <a:solidFill>
                    <a:srgbClr val="FFFFFF"/>
                  </a:solidFill>
                </a:ln>
                <a:solidFill>
                  <a:srgbClr val="FF7A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ЧТО ТЫ ДЕЙСТВИТЕЛЬНО ВИДИШЬ?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1051560" y="1170432"/>
            <a:ext cx="10104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414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Назови только две заметные детали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76656" y="1417320"/>
            <a:ext cx="4599432" cy="4736592"/>
          </a:xfrm>
          <a:prstGeom prst="roundRect">
            <a:avLst>
              <a:gd name="adj" fmla="val 1590"/>
            </a:avLst>
          </a:prstGeom>
          <a:solidFill>
            <a:srgbClr val="21113C"/>
          </a:solidFill>
          <a:ln w="12700">
            <a:solidFill>
              <a:srgbClr val="9A5BDC">
                <a:alpha val="78000"/>
              </a:srgbClr>
            </a:solidFill>
            <a:prstDash val="solid"/>
          </a:ln>
          <a:effectLst>
            <a:outerShdw sx="100000" sy="100000" kx="0" ky="0" algn="bl" rotWithShape="0" blurRad="1.477396183774876e+74" dist="2.954792367549752e+74" dir="4.57019805007872e+87">
              <a:srgbClr val="6D34AC">
                <a:alpha val="1.2000000000000002e+89"/>
              </a:srgbClr>
            </a:outerShdw>
          </a:effectLst>
        </p:spPr>
      </p:sp>
      <p:pic>
        <p:nvPicPr>
          <p:cNvPr id="16" name="Image 0" descr="/workspace/generated_images/exec-b7e12594-176c-4799-bb56-69e5a1e0ae6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72184" y="1517904"/>
            <a:ext cx="3035808" cy="4553712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5596128" y="1609344"/>
            <a:ext cx="5532120" cy="4160520"/>
          </a:xfrm>
          <a:prstGeom prst="roundRect">
            <a:avLst>
              <a:gd name="adj" fmla="val 1758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FF7A00">
                <a:alpha val="78000"/>
              </a:srgbClr>
            </a:solidFill>
            <a:prstDash val="solid"/>
          </a:ln>
          <a:effectLst>
            <a:outerShdw sx="100000" sy="100000" kx="0" ky="0" algn="bl" rotWithShape="0" blurRad="1.8762931533940924e+78" dist="3.752586306788185e+78" dir="2.742118830047232e+92">
              <a:srgbClr val="6D34AC">
                <a:alpha val="1.2000000000000001e+94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925312" y="1938528"/>
            <a:ext cx="1481328" cy="384048"/>
          </a:xfrm>
          <a:prstGeom prst="roundRect">
            <a:avLst>
              <a:gd name="adj" fmla="val 28571"/>
            </a:avLst>
          </a:prstGeom>
          <a:solidFill>
            <a:srgbClr val="FF7A00"/>
          </a:solidFill>
          <a:ln w="12700">
            <a:solidFill>
              <a:srgbClr val="FF7A0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998464" y="1956816"/>
            <a:ext cx="1335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ЗАДАНИЕ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5961888" y="2596896"/>
            <a:ext cx="4645152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2414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1. Что видно на лице?</a:t>
            </a:r>
            <a:endParaRPr lang="en-US" sz="1900" dirty="0"/>
          </a:p>
          <a:p>
            <a:pPr indent="0" marL="0">
              <a:buNone/>
            </a:pP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2414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2. Как держатся плечи?</a:t>
            </a:r>
            <a:endParaRPr lang="en-US" sz="1900" dirty="0"/>
          </a:p>
          <a:p>
            <a:pPr indent="0" marL="0">
              <a:buNone/>
            </a:pP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2414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3. Куда наклонена голова?</a:t>
            </a:r>
            <a:endParaRPr lang="en-US" sz="1900" dirty="0"/>
          </a:p>
        </p:txBody>
      </p:sp>
      <p:sp>
        <p:nvSpPr>
          <p:cNvPr id="21" name="Shape 18"/>
          <p:cNvSpPr/>
          <p:nvPr/>
        </p:nvSpPr>
        <p:spPr>
          <a:xfrm>
            <a:off x="6611112" y="5074920"/>
            <a:ext cx="3767328" cy="384048"/>
          </a:xfrm>
          <a:prstGeom prst="roundRect">
            <a:avLst>
              <a:gd name="adj" fmla="val 28571"/>
            </a:avLst>
          </a:prstGeom>
          <a:solidFill>
            <a:srgbClr val="EAF6FF"/>
          </a:solidFill>
          <a:ln w="12700">
            <a:solidFill>
              <a:srgbClr val="47C9FF"/>
            </a:solidFill>
            <a:prstDash val="solid"/>
          </a:ln>
          <a:effectLst>
            <a:outerShdw sx="100000" sy="100000" kx="0" ky="0" algn="bl" rotWithShape="0" blurRad="2.3828923048104974e+82" dist="4.765784609620995e+82" dir="1.6452712980283393e+97">
              <a:srgbClr val="6D34AC">
                <a:alpha val="1.2e+99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6684264" y="5093208"/>
            <a:ext cx="3621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D34A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Пока не называем эмоцию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1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463040"/>
            <a:ext cx="4754880" cy="3749040"/>
          </a:xfrm>
          <a:prstGeom prst="ellipse">
            <a:avLst/>
          </a:prstGeom>
          <a:solidFill>
            <a:srgbClr val="F2DFFF">
              <a:alpha val="8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26880" y="4389120"/>
            <a:ext cx="3749040" cy="2926080"/>
          </a:xfrm>
          <a:prstGeom prst="ellipse">
            <a:avLst/>
          </a:prstGeom>
          <a:solidFill>
            <a:srgbClr val="FFE2C6">
              <a:alpha val="7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6304" y="146304"/>
            <a:ext cx="11896344" cy="6528816"/>
          </a:xfrm>
          <a:prstGeom prst="roundRect">
            <a:avLst>
              <a:gd name="adj" fmla="val 1120"/>
            </a:avLst>
          </a:prstGeom>
          <a:solidFill>
            <a:srgbClr val="FFFFFF">
              <a:alpha val="0"/>
            </a:srgbClr>
          </a:solidFill>
          <a:ln w="12700">
            <a:solidFill>
              <a:srgbClr val="B860E8">
                <a:alpha val="8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310896"/>
            <a:ext cx="2834640" cy="0"/>
          </a:xfrm>
          <a:prstGeom prst="line">
            <a:avLst/>
          </a:prstGeom>
          <a:noFill/>
          <a:ln w="12700">
            <a:solidFill>
              <a:srgbClr val="FF9D32">
                <a:alpha val="88000"/>
              </a:srgbClr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8915400" y="310896"/>
            <a:ext cx="2724912" cy="0"/>
          </a:xfrm>
          <a:prstGeom prst="line">
            <a:avLst/>
          </a:prstGeom>
          <a:noFill/>
          <a:ln w="12700">
            <a:solidFill>
              <a:srgbClr val="9A5BDC">
                <a:alpha val="9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6519672"/>
            <a:ext cx="1828800" cy="0"/>
          </a:xfrm>
          <a:prstGeom prst="line">
            <a:avLst/>
          </a:prstGeom>
          <a:noFill/>
          <a:ln w="12700">
            <a:solidFill>
              <a:srgbClr val="9A5BDC">
                <a:alpha val="8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893808" y="6519672"/>
            <a:ext cx="1737360" cy="0"/>
          </a:xfrm>
          <a:prstGeom prst="line">
            <a:avLst/>
          </a:prstGeom>
          <a:noFill/>
          <a:ln w="12700">
            <a:solidFill>
              <a:srgbClr val="FF9D32">
                <a:alpha val="8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2064" y="34747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D34A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ЛАБОРАТОРИЯ ИИ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023360" y="329184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F6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ЧЕЛОВЕК ПРОТИВ ИИ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235440" y="347472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7A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6–10 МИН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1109960" y="320040"/>
            <a:ext cx="502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D34A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07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76656" y="621792"/>
            <a:ext cx="10835640" cy="585216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50800" dir="2700000">
              <a:srgbClr val="7430A7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ln w="15240">
                  <a:solidFill>
                    <a:srgbClr val="FFFFFF"/>
                  </a:solidFill>
                </a:ln>
                <a:solidFill>
                  <a:srgbClr val="FF7A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ФАКТ ИЛИ ДОГАДКА?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1051560" y="1170432"/>
            <a:ext cx="10104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414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Сначала наблюдаем, потом строим версии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13232" y="1572768"/>
            <a:ext cx="5257800" cy="3547872"/>
          </a:xfrm>
          <a:prstGeom prst="roundRect">
            <a:avLst>
              <a:gd name="adj" fmla="val 2062"/>
            </a:avLst>
          </a:prstGeom>
          <a:solidFill>
            <a:srgbClr val="F1FFF9">
              <a:alpha val="98000"/>
            </a:srgbClr>
          </a:solidFill>
          <a:ln w="12700">
            <a:solidFill>
              <a:srgbClr val="36C98F">
                <a:alpha val="78000"/>
              </a:srgbClr>
            </a:solidFill>
            <a:prstDash val="solid"/>
          </a:ln>
          <a:effectLst>
            <a:outerShdw sx="100000" sy="100000" kx="0" ky="0" algn="bl" rotWithShape="0" blurRad="3.0262732271093317e+86" dist="6.052546454218663e+86" dir="9.871627788170037e+101">
              <a:srgbClr val="6D34AC">
                <a:alpha val="1.2e+104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59536" y="1719072"/>
            <a:ext cx="566928" cy="384048"/>
          </a:xfrm>
          <a:prstGeom prst="roundRect">
            <a:avLst>
              <a:gd name="adj" fmla="val 28571"/>
            </a:avLst>
          </a:prstGeom>
          <a:solidFill>
            <a:srgbClr val="36C98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9536" y="1691640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✓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517904" y="1709928"/>
            <a:ext cx="427024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414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ФАКТ / ПРИЗНАК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14400" y="2231136"/>
            <a:ext cx="4855464" cy="2724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2414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«Он улыбается»</a:t>
            </a:r>
            <a:endParaRPr lang="en-US" sz="2300" dirty="0"/>
          </a:p>
          <a:p>
            <a:pPr algn="ctr" indent="0" marL="0">
              <a:buNone/>
            </a:pPr>
            <a:endParaRPr lang="en-US" sz="2300" dirty="0"/>
          </a:p>
          <a:p>
            <a:pPr algn="ctr" indent="0" marL="0">
              <a:buNone/>
            </a:pPr>
            <a:r>
              <a:rPr lang="en-US" sz="2300" b="1" dirty="0">
                <a:solidFill>
                  <a:srgbClr val="2414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Это можно увидеть.</a:t>
            </a:r>
            <a:endParaRPr lang="en-US" sz="2300" dirty="0"/>
          </a:p>
        </p:txBody>
      </p:sp>
      <p:sp>
        <p:nvSpPr>
          <p:cNvPr id="20" name="Shape 18"/>
          <p:cNvSpPr/>
          <p:nvPr/>
        </p:nvSpPr>
        <p:spPr>
          <a:xfrm>
            <a:off x="6199632" y="1572768"/>
            <a:ext cx="5257800" cy="3547872"/>
          </a:xfrm>
          <a:prstGeom prst="roundRect">
            <a:avLst>
              <a:gd name="adj" fmla="val 2062"/>
            </a:avLst>
          </a:prstGeom>
          <a:solidFill>
            <a:srgbClr val="FFF8F0">
              <a:alpha val="98000"/>
            </a:srgbClr>
          </a:solidFill>
          <a:ln w="12700">
            <a:solidFill>
              <a:srgbClr val="FF7A00">
                <a:alpha val="78000"/>
              </a:srgbClr>
            </a:solidFill>
            <a:prstDash val="solid"/>
          </a:ln>
          <a:effectLst>
            <a:outerShdw sx="100000" sy="100000" kx="0" ky="0" algn="bl" rotWithShape="0" blurRad="3.8433669984288512e+90" dist="7.6867339968577025e+90" dir="5.9229766729020215e+106">
              <a:srgbClr val="6D34AC">
                <a:alpha val="1.2e+109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345936" y="1719072"/>
            <a:ext cx="566928" cy="384048"/>
          </a:xfrm>
          <a:prstGeom prst="roundRect">
            <a:avLst>
              <a:gd name="adj" fmla="val 28571"/>
            </a:avLst>
          </a:prstGeom>
          <a:solidFill>
            <a:srgbClr val="FF7A0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45936" y="1691640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?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004304" y="1709928"/>
            <a:ext cx="427024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414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ДОГАДКА / ВЕРСИЯ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400800" y="2231136"/>
            <a:ext cx="4855464" cy="2724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414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«Он счастлив»</a:t>
            </a:r>
            <a:endParaRPr lang="en-US" sz="2000" dirty="0"/>
          </a:p>
          <a:p>
            <a:pPr algn="ctr" indent="0" marL="0">
              <a:buNone/>
            </a:pP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2414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Так может быть — но мы не знаем точно.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1993392" y="5468112"/>
            <a:ext cx="8202168" cy="384048"/>
          </a:xfrm>
          <a:prstGeom prst="roundRect">
            <a:avLst>
              <a:gd name="adj" fmla="val 28571"/>
            </a:avLst>
          </a:prstGeom>
          <a:solidFill>
            <a:srgbClr val="21113C"/>
          </a:solidFill>
          <a:ln w="12700">
            <a:solidFill>
              <a:srgbClr val="21113C"/>
            </a:solidFill>
            <a:prstDash val="solid"/>
          </a:ln>
          <a:effectLst>
            <a:outerShdw sx="100000" sy="100000" kx="0" ky="0" algn="bl" rotWithShape="0" blurRad="4.8810760880046414e+94" dist="9.762152176009283e+94" dir="3.553786003741213e+111">
              <a:srgbClr val="6D34AC">
                <a:alpha val="1.1999999999999999e+114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2066544" y="5486400"/>
            <a:ext cx="80558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Факт можно проверить глазами. Догадку — уточнить.</a:t>
            </a:r>
            <a:endParaRPr lang="en-US" sz="1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1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463040"/>
            <a:ext cx="4754880" cy="3749040"/>
          </a:xfrm>
          <a:prstGeom prst="ellipse">
            <a:avLst/>
          </a:prstGeom>
          <a:solidFill>
            <a:srgbClr val="F2DFFF">
              <a:alpha val="8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26880" y="4389120"/>
            <a:ext cx="3749040" cy="2926080"/>
          </a:xfrm>
          <a:prstGeom prst="ellipse">
            <a:avLst/>
          </a:prstGeom>
          <a:solidFill>
            <a:srgbClr val="FFE2C6">
              <a:alpha val="7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6304" y="146304"/>
            <a:ext cx="11896344" cy="6528816"/>
          </a:xfrm>
          <a:prstGeom prst="roundRect">
            <a:avLst>
              <a:gd name="adj" fmla="val 1120"/>
            </a:avLst>
          </a:prstGeom>
          <a:solidFill>
            <a:srgbClr val="FFFFFF">
              <a:alpha val="0"/>
            </a:srgbClr>
          </a:solidFill>
          <a:ln w="12700">
            <a:solidFill>
              <a:srgbClr val="B860E8">
                <a:alpha val="8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310896"/>
            <a:ext cx="2834640" cy="0"/>
          </a:xfrm>
          <a:prstGeom prst="line">
            <a:avLst/>
          </a:prstGeom>
          <a:noFill/>
          <a:ln w="12700">
            <a:solidFill>
              <a:srgbClr val="FF9D32">
                <a:alpha val="88000"/>
              </a:srgbClr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8915400" y="310896"/>
            <a:ext cx="2724912" cy="0"/>
          </a:xfrm>
          <a:prstGeom prst="line">
            <a:avLst/>
          </a:prstGeom>
          <a:noFill/>
          <a:ln w="12700">
            <a:solidFill>
              <a:srgbClr val="9A5BDC">
                <a:alpha val="9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6519672"/>
            <a:ext cx="1828800" cy="0"/>
          </a:xfrm>
          <a:prstGeom prst="line">
            <a:avLst/>
          </a:prstGeom>
          <a:noFill/>
          <a:ln w="12700">
            <a:solidFill>
              <a:srgbClr val="9A5BDC">
                <a:alpha val="8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893808" y="6519672"/>
            <a:ext cx="1737360" cy="0"/>
          </a:xfrm>
          <a:prstGeom prst="line">
            <a:avLst/>
          </a:prstGeom>
          <a:noFill/>
          <a:ln w="12700">
            <a:solidFill>
              <a:srgbClr val="FF9D32">
                <a:alpha val="8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2064" y="34747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D34A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ЛАБОРАТОРИЯ ИИ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023360" y="329184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F6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ЧЕЛОВЕК ПРОТИВ ИИ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235440" y="347472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7A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6–10 МИН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1109960" y="320040"/>
            <a:ext cx="502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D34A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08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76656" y="621792"/>
            <a:ext cx="10835640" cy="585216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50800" dir="2700000">
              <a:srgbClr val="7430A7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ln w="15240">
                  <a:solidFill>
                    <a:srgbClr val="FFFFFF"/>
                  </a:solidFill>
                </a:ln>
                <a:solidFill>
                  <a:srgbClr val="FF7A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ОДНА КАРТИНКА — ДВЕ ВЕРСИИ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1051560" y="1170432"/>
            <a:ext cx="10104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414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Обе версии должны опираться на признаки</a:t>
            </a:r>
            <a:endParaRPr lang="en-US" sz="1250" dirty="0"/>
          </a:p>
        </p:txBody>
      </p:sp>
      <p:pic>
        <p:nvPicPr>
          <p:cNvPr id="15" name="Image 0" descr="/workspace/generated_images/exec-b7e12594-176c-4799-bb56-69e5a1e0ae6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89704" y="1417320"/>
            <a:ext cx="3218688" cy="4828032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658368" y="1901952"/>
            <a:ext cx="3410712" cy="2889504"/>
          </a:xfrm>
          <a:prstGeom prst="roundRect">
            <a:avLst>
              <a:gd name="adj" fmla="val 2532"/>
            </a:avLst>
          </a:prstGeom>
          <a:solidFill>
            <a:srgbClr val="FFFBE9">
              <a:alpha val="98000"/>
            </a:srgbClr>
          </a:solidFill>
          <a:ln w="12700">
            <a:solidFill>
              <a:srgbClr val="FFD35A">
                <a:alpha val="78000"/>
              </a:srgbClr>
            </a:solidFill>
            <a:prstDash val="solid"/>
          </a:ln>
          <a:effectLst>
            <a:outerShdw sx="100000" sy="100000" kx="0" ky="0" algn="bl" rotWithShape="0" blurRad="6.198966631765894e+98" dist="1.2397933263531789e+99" dir="2.1322716022447277e+116">
              <a:srgbClr val="6D34AC">
                <a:alpha val="1.1999999999999998e+119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804672" y="2048256"/>
            <a:ext cx="566928" cy="384048"/>
          </a:xfrm>
          <a:prstGeom prst="roundRect">
            <a:avLst>
              <a:gd name="adj" fmla="val 28571"/>
            </a:avLst>
          </a:prstGeom>
          <a:solidFill>
            <a:srgbClr val="FFD35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04672" y="2020824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1463040" y="2039112"/>
            <a:ext cx="24231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2414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ВЕРСИЯ А</a:t>
            </a:r>
            <a:endParaRPr lang="en-US" sz="1700" dirty="0"/>
          </a:p>
        </p:txBody>
      </p:sp>
      <p:sp>
        <p:nvSpPr>
          <p:cNvPr id="20" name="Text 17"/>
          <p:cNvSpPr/>
          <p:nvPr/>
        </p:nvSpPr>
        <p:spPr>
          <a:xfrm>
            <a:off x="859536" y="2560320"/>
            <a:ext cx="3008376" cy="20665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2414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Он рад встрече?</a:t>
            </a:r>
            <a:endParaRPr lang="en-US" sz="2300" dirty="0"/>
          </a:p>
        </p:txBody>
      </p:sp>
      <p:sp>
        <p:nvSpPr>
          <p:cNvPr id="21" name="Shape 18"/>
          <p:cNvSpPr/>
          <p:nvPr/>
        </p:nvSpPr>
        <p:spPr>
          <a:xfrm>
            <a:off x="8101584" y="1901952"/>
            <a:ext cx="3410712" cy="2889504"/>
          </a:xfrm>
          <a:prstGeom prst="roundRect">
            <a:avLst>
              <a:gd name="adj" fmla="val 2532"/>
            </a:avLst>
          </a:prstGeom>
          <a:solidFill>
            <a:srgbClr val="F8F0FF">
              <a:alpha val="98000"/>
            </a:srgbClr>
          </a:solidFill>
          <a:ln w="12700">
            <a:solidFill>
              <a:srgbClr val="9A5BDC">
                <a:alpha val="78000"/>
              </a:srgbClr>
            </a:solidFill>
            <a:prstDash val="solid"/>
          </a:ln>
          <a:effectLst>
            <a:outerShdw sx="100000" sy="100000" kx="0" ky="0" algn="bl" rotWithShape="0" blurRad="7.872687622342685e+102" dist="1.574537524468537e+103" dir="1.2793629613468366e+121">
              <a:srgbClr val="6D34AC">
                <a:alpha val="1.1999999999999998e+124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8247888" y="2048256"/>
            <a:ext cx="566928" cy="384048"/>
          </a:xfrm>
          <a:prstGeom prst="roundRect">
            <a:avLst>
              <a:gd name="adj" fmla="val 28571"/>
            </a:avLst>
          </a:prstGeom>
          <a:solidFill>
            <a:srgbClr val="9A5BD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247888" y="2020824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Б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8906256" y="2039112"/>
            <a:ext cx="24231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2414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ВЕРСИЯ Б</a:t>
            </a:r>
            <a:endParaRPr lang="en-US" sz="1700" dirty="0"/>
          </a:p>
        </p:txBody>
      </p:sp>
      <p:sp>
        <p:nvSpPr>
          <p:cNvPr id="25" name="Text 22"/>
          <p:cNvSpPr/>
          <p:nvPr/>
        </p:nvSpPr>
        <p:spPr>
          <a:xfrm>
            <a:off x="8302752" y="2560320"/>
            <a:ext cx="3008376" cy="20665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414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Он старается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2414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скрыть огорчение?</a:t>
            </a:r>
            <a:endParaRPr lang="en-US" sz="2000" dirty="0"/>
          </a:p>
        </p:txBody>
      </p:sp>
      <p:sp>
        <p:nvSpPr>
          <p:cNvPr id="26" name="Shape 23"/>
          <p:cNvSpPr/>
          <p:nvPr/>
        </p:nvSpPr>
        <p:spPr>
          <a:xfrm>
            <a:off x="2926080" y="5422392"/>
            <a:ext cx="6336792" cy="384048"/>
          </a:xfrm>
          <a:prstGeom prst="roundRect">
            <a:avLst>
              <a:gd name="adj" fmla="val 28571"/>
            </a:avLst>
          </a:prstGeom>
          <a:solidFill>
            <a:srgbClr val="6D34AC"/>
          </a:solidFill>
          <a:ln w="12700">
            <a:solidFill>
              <a:srgbClr val="6D34AC"/>
            </a:solidFill>
            <a:prstDash val="solid"/>
          </a:ln>
          <a:effectLst>
            <a:outerShdw sx="100000" sy="100000" kx="0" ky="0" algn="bl" rotWithShape="0" blurRad="9.998313280375211e+106" dist="1.9996626560750422e+107" dir="7.67617776808102e+125">
              <a:srgbClr val="6D34AC">
                <a:alpha val="1.1999999999999998e+129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2999232" y="5440680"/>
            <a:ext cx="6190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Какие детали подходят каждой версии?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1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463040"/>
            <a:ext cx="4754880" cy="3749040"/>
          </a:xfrm>
          <a:prstGeom prst="ellipse">
            <a:avLst/>
          </a:prstGeom>
          <a:solidFill>
            <a:srgbClr val="F2DFFF">
              <a:alpha val="8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26880" y="4389120"/>
            <a:ext cx="3749040" cy="2926080"/>
          </a:xfrm>
          <a:prstGeom prst="ellipse">
            <a:avLst/>
          </a:prstGeom>
          <a:solidFill>
            <a:srgbClr val="FFE2C6">
              <a:alpha val="7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6304" y="146304"/>
            <a:ext cx="11896344" cy="6528816"/>
          </a:xfrm>
          <a:prstGeom prst="roundRect">
            <a:avLst>
              <a:gd name="adj" fmla="val 1120"/>
            </a:avLst>
          </a:prstGeom>
          <a:solidFill>
            <a:srgbClr val="FFFFFF">
              <a:alpha val="0"/>
            </a:srgbClr>
          </a:solidFill>
          <a:ln w="12700">
            <a:solidFill>
              <a:srgbClr val="B860E8">
                <a:alpha val="8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310896"/>
            <a:ext cx="2834640" cy="0"/>
          </a:xfrm>
          <a:prstGeom prst="line">
            <a:avLst/>
          </a:prstGeom>
          <a:noFill/>
          <a:ln w="12700">
            <a:solidFill>
              <a:srgbClr val="FF9D32">
                <a:alpha val="88000"/>
              </a:srgbClr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8915400" y="310896"/>
            <a:ext cx="2724912" cy="0"/>
          </a:xfrm>
          <a:prstGeom prst="line">
            <a:avLst/>
          </a:prstGeom>
          <a:noFill/>
          <a:ln w="12700">
            <a:solidFill>
              <a:srgbClr val="9A5BDC">
                <a:alpha val="9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6519672"/>
            <a:ext cx="1828800" cy="0"/>
          </a:xfrm>
          <a:prstGeom prst="line">
            <a:avLst/>
          </a:prstGeom>
          <a:noFill/>
          <a:ln w="12700">
            <a:solidFill>
              <a:srgbClr val="9A5BDC">
                <a:alpha val="8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893808" y="6519672"/>
            <a:ext cx="1737360" cy="0"/>
          </a:xfrm>
          <a:prstGeom prst="line">
            <a:avLst/>
          </a:prstGeom>
          <a:noFill/>
          <a:ln w="12700">
            <a:solidFill>
              <a:srgbClr val="FF9D32">
                <a:alpha val="8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2064" y="34747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D34A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ЛАБОРАТОРИЯ ИИ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023360" y="329184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F6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ЧЕЛОВЕК ПРОТИВ ИИ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235440" y="347472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7A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10–17 МИН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1109960" y="320040"/>
            <a:ext cx="502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D34A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09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76656" y="621792"/>
            <a:ext cx="10835640" cy="585216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50800" dir="2700000">
              <a:srgbClr val="7430A7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ln w="15240">
                  <a:solidFill>
                    <a:srgbClr val="FFFFFF"/>
                  </a:solidFill>
                </a:ln>
                <a:solidFill>
                  <a:srgbClr val="FF7A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КОНТЕКСТ МЕНЯЕТ ВЕРСИЮ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1051560" y="1170432"/>
            <a:ext cx="10104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414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Картинка та же — история стала понятнее</a:t>
            </a:r>
            <a:endParaRPr lang="en-US" sz="1250" dirty="0"/>
          </a:p>
        </p:txBody>
      </p:sp>
      <p:pic>
        <p:nvPicPr>
          <p:cNvPr id="15" name="Image 0" descr="/tmp/lesson18_assets/satell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2213" y="1417320"/>
            <a:ext cx="2289790" cy="5010912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3063240" y="1536192"/>
            <a:ext cx="8156448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FF7A00">
                <a:alpha val="78000"/>
              </a:srgbClr>
            </a:solidFill>
            <a:prstDash val="solid"/>
          </a:ln>
          <a:effectLst>
            <a:outerShdw sx="100000" sy="100000" kx="0" ky="0" algn="bl" rotWithShape="0" blurRad="1.2697857866076517e+111" dist="2.5395715732153033e+111" dir="4.605706660848612e+130">
              <a:srgbClr val="6D34AC">
                <a:alpha val="1.1999999999999998e+134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3227832" y="1682496"/>
            <a:ext cx="109728" cy="1005840"/>
          </a:xfrm>
          <a:prstGeom prst="roundRect">
            <a:avLst>
              <a:gd name="adj" fmla="val 33333"/>
            </a:avLst>
          </a:prstGeom>
          <a:solidFill>
            <a:srgbClr val="FF7A0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502152" y="1673352"/>
            <a:ext cx="7534656" cy="10241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414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Робот проиграл конкурс,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2414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но улыбается, чтобы поддержать друга.</a:t>
            </a:r>
            <a:endParaRPr lang="en-US" sz="2200" dirty="0"/>
          </a:p>
        </p:txBody>
      </p:sp>
      <p:sp>
        <p:nvSpPr>
          <p:cNvPr id="19" name="Shape 16"/>
          <p:cNvSpPr/>
          <p:nvPr/>
        </p:nvSpPr>
        <p:spPr>
          <a:xfrm>
            <a:off x="3255264" y="3136392"/>
            <a:ext cx="3529584" cy="1938528"/>
          </a:xfrm>
          <a:prstGeom prst="roundRect">
            <a:avLst>
              <a:gd name="adj" fmla="val 3774"/>
            </a:avLst>
          </a:prstGeom>
          <a:solidFill>
            <a:srgbClr val="FFFFFF">
              <a:alpha val="98000"/>
            </a:srgbClr>
          </a:solidFill>
          <a:ln w="12700">
            <a:solidFill>
              <a:srgbClr val="47C9FF">
                <a:alpha val="78000"/>
              </a:srgbClr>
            </a:solidFill>
            <a:prstDash val="solid"/>
          </a:ln>
          <a:effectLst>
            <a:outerShdw sx="100000" sy="100000" kx="0" ky="0" algn="bl" rotWithShape="0" blurRad="1.6126279489917177e+115" dist="3.2252558979834354e+115" dir="2.763423996509167e+135">
              <a:srgbClr val="6D34AC">
                <a:alpha val="1.1999999999999998e+139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3401568" y="3282696"/>
            <a:ext cx="566928" cy="384048"/>
          </a:xfrm>
          <a:prstGeom prst="roundRect">
            <a:avLst>
              <a:gd name="adj" fmla="val 28571"/>
            </a:avLst>
          </a:prstGeom>
          <a:solidFill>
            <a:srgbClr val="47C9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401568" y="3255264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4059936" y="3273552"/>
            <a:ext cx="25420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414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ДО КОНТЕКСТА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3456432" y="3794760"/>
            <a:ext cx="3127248" cy="11155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414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«Наверное, он счастлив»</a:t>
            </a:r>
            <a:endParaRPr lang="en-US" sz="1700" dirty="0"/>
          </a:p>
        </p:txBody>
      </p:sp>
      <p:sp>
        <p:nvSpPr>
          <p:cNvPr id="24" name="Shape 21"/>
          <p:cNvSpPr/>
          <p:nvPr/>
        </p:nvSpPr>
        <p:spPr>
          <a:xfrm>
            <a:off x="7077456" y="3136392"/>
            <a:ext cx="3529584" cy="1938528"/>
          </a:xfrm>
          <a:prstGeom prst="roundRect">
            <a:avLst>
              <a:gd name="adj" fmla="val 3774"/>
            </a:avLst>
          </a:prstGeom>
          <a:solidFill>
            <a:srgbClr val="FFFFFF">
              <a:alpha val="98000"/>
            </a:srgbClr>
          </a:solidFill>
          <a:ln w="12700">
            <a:solidFill>
              <a:srgbClr val="FF7A00">
                <a:alpha val="78000"/>
              </a:srgbClr>
            </a:solidFill>
            <a:prstDash val="solid"/>
          </a:ln>
          <a:effectLst>
            <a:outerShdw sx="100000" sy="100000" kx="0" ky="0" algn="bl" rotWithShape="0" blurRad="2.0480374952194813e+119" dist="4.0960749904389626e+119" dir="1.6580543979055002e+140">
              <a:srgbClr val="6D34AC">
                <a:alpha val="1.1999999999999999e+144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7223760" y="3282696"/>
            <a:ext cx="566928" cy="384048"/>
          </a:xfrm>
          <a:prstGeom prst="roundRect">
            <a:avLst>
              <a:gd name="adj" fmla="val 28571"/>
            </a:avLst>
          </a:prstGeom>
          <a:solidFill>
            <a:srgbClr val="FF7A0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223760" y="3255264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7882128" y="3273552"/>
            <a:ext cx="25420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414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ПОСЛЕ КОНТЕКСТА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7278624" y="3794760"/>
            <a:ext cx="3127248" cy="11155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414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«Возможно, ему грустно,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2414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но он поддерживает друга»</a:t>
            </a:r>
            <a:endParaRPr lang="en-US" sz="1500" dirty="0"/>
          </a:p>
        </p:txBody>
      </p:sp>
      <p:sp>
        <p:nvSpPr>
          <p:cNvPr id="29" name="Shape 26"/>
          <p:cNvSpPr/>
          <p:nvPr/>
        </p:nvSpPr>
        <p:spPr>
          <a:xfrm>
            <a:off x="3712464" y="5440680"/>
            <a:ext cx="6473952" cy="384048"/>
          </a:xfrm>
          <a:prstGeom prst="roundRect">
            <a:avLst>
              <a:gd name="adj" fmla="val 28571"/>
            </a:avLst>
          </a:prstGeom>
          <a:solidFill>
            <a:srgbClr val="21113C"/>
          </a:solidFill>
          <a:ln w="12700">
            <a:solidFill>
              <a:srgbClr val="21113C"/>
            </a:solidFill>
            <a:prstDash val="solid"/>
          </a:ln>
          <a:effectLst>
            <a:outerShdw sx="100000" sy="100000" kx="0" ky="0" algn="bl" rotWithShape="0" blurRad="2.6010076189287412e+123" dist="5.2020152378574823e+123" dir="9.948326387433002e+144">
              <a:srgbClr val="6D34AC">
                <a:alpha val="1.1999999999999998e+149"/>
              </a:srgbClr>
            </a:outerShdw>
          </a:effectLst>
        </p:spPr>
      </p:sp>
      <p:sp>
        <p:nvSpPr>
          <p:cNvPr id="30" name="Text 27"/>
          <p:cNvSpPr/>
          <p:nvPr/>
        </p:nvSpPr>
        <p:spPr>
          <a:xfrm>
            <a:off x="3785616" y="5458968"/>
            <a:ext cx="63276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Контекст помогает, но не читает мысли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1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463040"/>
            <a:ext cx="4754880" cy="3749040"/>
          </a:xfrm>
          <a:prstGeom prst="ellipse">
            <a:avLst/>
          </a:prstGeom>
          <a:solidFill>
            <a:srgbClr val="F2DFFF">
              <a:alpha val="8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26880" y="4389120"/>
            <a:ext cx="3749040" cy="2926080"/>
          </a:xfrm>
          <a:prstGeom prst="ellipse">
            <a:avLst/>
          </a:prstGeom>
          <a:solidFill>
            <a:srgbClr val="FFE2C6">
              <a:alpha val="7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6304" y="146304"/>
            <a:ext cx="11896344" cy="6528816"/>
          </a:xfrm>
          <a:prstGeom prst="roundRect">
            <a:avLst>
              <a:gd name="adj" fmla="val 1120"/>
            </a:avLst>
          </a:prstGeom>
          <a:solidFill>
            <a:srgbClr val="FFFFFF">
              <a:alpha val="0"/>
            </a:srgbClr>
          </a:solidFill>
          <a:ln w="12700">
            <a:solidFill>
              <a:srgbClr val="B860E8">
                <a:alpha val="8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310896"/>
            <a:ext cx="2834640" cy="0"/>
          </a:xfrm>
          <a:prstGeom prst="line">
            <a:avLst/>
          </a:prstGeom>
          <a:noFill/>
          <a:ln w="12700">
            <a:solidFill>
              <a:srgbClr val="FF9D32">
                <a:alpha val="88000"/>
              </a:srgbClr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8915400" y="310896"/>
            <a:ext cx="2724912" cy="0"/>
          </a:xfrm>
          <a:prstGeom prst="line">
            <a:avLst/>
          </a:prstGeom>
          <a:noFill/>
          <a:ln w="12700">
            <a:solidFill>
              <a:srgbClr val="9A5BDC">
                <a:alpha val="9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6519672"/>
            <a:ext cx="1828800" cy="0"/>
          </a:xfrm>
          <a:prstGeom prst="line">
            <a:avLst/>
          </a:prstGeom>
          <a:noFill/>
          <a:ln w="12700">
            <a:solidFill>
              <a:srgbClr val="9A5BDC">
                <a:alpha val="8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893808" y="6519672"/>
            <a:ext cx="1737360" cy="0"/>
          </a:xfrm>
          <a:prstGeom prst="line">
            <a:avLst/>
          </a:prstGeom>
          <a:noFill/>
          <a:ln w="12700">
            <a:solidFill>
              <a:srgbClr val="FF9D32">
                <a:alpha val="8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2064" y="34747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D34A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ЛАБОРАТОРИЯ ИИ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023360" y="329184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F6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ЧЕЛОВЕК ПРОТИВ ИИ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235440" y="347472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7A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10–17 МИН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1109960" y="320040"/>
            <a:ext cx="502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D34A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76656" y="621792"/>
            <a:ext cx="10835640" cy="585216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50800" dir="2700000">
              <a:srgbClr val="7430A7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ln w="15240">
                  <a:solidFill>
                    <a:srgbClr val="FFFFFF"/>
                  </a:solidFill>
                </a:ln>
                <a:solidFill>
                  <a:srgbClr val="FF7A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ГОВОРИМ ОСТОРОЖНО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1051560" y="1170432"/>
            <a:ext cx="10104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414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Эмо-радар получает новое правило</a:t>
            </a:r>
            <a:endParaRPr lang="en-US" sz="1250" dirty="0"/>
          </a:p>
        </p:txBody>
      </p:sp>
      <p:pic>
        <p:nvPicPr>
          <p:cNvPr id="15" name="Image 0" descr="/tmp/lesson18_assets/ca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55" y="1444752"/>
            <a:ext cx="2633394" cy="4956048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3236976" y="1591056"/>
            <a:ext cx="7927848" cy="4297680"/>
          </a:xfrm>
          <a:prstGeom prst="roundRect">
            <a:avLst>
              <a:gd name="adj" fmla="val 1702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9A5BDC">
                <a:alpha val="78000"/>
              </a:srgbClr>
            </a:solidFill>
            <a:prstDash val="solid"/>
          </a:ln>
          <a:effectLst>
            <a:outerShdw sx="100000" sy="100000" kx="0" ky="0" algn="bl" rotWithShape="0" blurRad="3.303279676039501e+127" dist="6.606559352079002e+127" dir="5.968995832459801e+149">
              <a:srgbClr val="6D34AC">
                <a:alpha val="1.1999999999999998e+154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3657600" y="1847088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ВМЕСТО ШТАМПА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3657600" y="2286000"/>
            <a:ext cx="3154680" cy="384048"/>
          </a:xfrm>
          <a:prstGeom prst="roundRect">
            <a:avLst>
              <a:gd name="adj" fmla="val 28571"/>
            </a:avLst>
          </a:prstGeom>
          <a:solidFill>
            <a:srgbClr val="F06666"/>
          </a:solidFill>
          <a:ln w="12700">
            <a:solidFill>
              <a:srgbClr val="F0666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730752" y="2304288"/>
            <a:ext cx="3008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«ОН ТОЧНО ЗЛИТСЯ»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7406640" y="184708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6C98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ГОВОРИМ ТАК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7370064" y="2286000"/>
            <a:ext cx="2880360" cy="384048"/>
          </a:xfrm>
          <a:prstGeom prst="roundRect">
            <a:avLst>
              <a:gd name="adj" fmla="val 28571"/>
            </a:avLst>
          </a:prstGeom>
          <a:solidFill>
            <a:srgbClr val="36C98F"/>
          </a:solidFill>
          <a:ln w="12700">
            <a:solidFill>
              <a:srgbClr val="36C98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443216" y="2304288"/>
            <a:ext cx="2734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«ВОЗМОЖНО…»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3749040" y="3273552"/>
            <a:ext cx="3044952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6D34AC">
                <a:alpha val="78000"/>
              </a:srgbClr>
            </a:solidFill>
            <a:prstDash val="solid"/>
          </a:ln>
          <a:effectLst>
            <a:outerShdw sx="100000" sy="100000" kx="0" ky="0" algn="bl" rotWithShape="0" blurRad="4.195165188570166e+131" dist="8.390330377140333e+131" dir="3.581397499475881e+154">
              <a:srgbClr val="6D34AC">
                <a:alpha val="1.1999999999999998e+159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3913632" y="3419856"/>
            <a:ext cx="109728" cy="713232"/>
          </a:xfrm>
          <a:prstGeom prst="roundRect">
            <a:avLst>
              <a:gd name="adj" fmla="val 33333"/>
            </a:avLst>
          </a:prstGeom>
          <a:solidFill>
            <a:srgbClr val="6D34A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187952" y="3410712"/>
            <a:ext cx="242316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414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«Мне кажется…»</a:t>
            </a:r>
            <a:endParaRPr lang="en-US" sz="1800" dirty="0"/>
          </a:p>
        </p:txBody>
      </p:sp>
      <p:sp>
        <p:nvSpPr>
          <p:cNvPr id="26" name="Shape 23"/>
          <p:cNvSpPr/>
          <p:nvPr/>
        </p:nvSpPr>
        <p:spPr>
          <a:xfrm>
            <a:off x="7196328" y="3273552"/>
            <a:ext cx="3044952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47C9FF">
                <a:alpha val="78000"/>
              </a:srgbClr>
            </a:solidFill>
            <a:prstDash val="solid"/>
          </a:ln>
          <a:effectLst>
            <a:outerShdw sx="100000" sy="100000" kx="0" ky="0" algn="bl" rotWithShape="0" blurRad="5.327859789484111e+135" dist="1.0655719578968222e+136" dir="2.1488384996855287e+159">
              <a:srgbClr val="6D34AC">
                <a:alpha val="1.1999999999999998e+164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7360920" y="3419856"/>
            <a:ext cx="109728" cy="713232"/>
          </a:xfrm>
          <a:prstGeom prst="roundRect">
            <a:avLst>
              <a:gd name="adj" fmla="val 33333"/>
            </a:avLst>
          </a:prstGeom>
          <a:solidFill>
            <a:srgbClr val="47C9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635240" y="3410712"/>
            <a:ext cx="242316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414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«Я могу ошибаться»</a:t>
            </a:r>
            <a:endParaRPr lang="en-US" sz="1800" dirty="0"/>
          </a:p>
        </p:txBody>
      </p:sp>
      <p:sp>
        <p:nvSpPr>
          <p:cNvPr id="29" name="Shape 26"/>
          <p:cNvSpPr/>
          <p:nvPr/>
        </p:nvSpPr>
        <p:spPr>
          <a:xfrm>
            <a:off x="3986784" y="4828032"/>
            <a:ext cx="6144768" cy="384048"/>
          </a:xfrm>
          <a:prstGeom prst="roundRect">
            <a:avLst>
              <a:gd name="adj" fmla="val 28571"/>
            </a:avLst>
          </a:prstGeom>
          <a:solidFill>
            <a:srgbClr val="21113C"/>
          </a:solidFill>
          <a:ln w="12700">
            <a:solidFill>
              <a:srgbClr val="21113C"/>
            </a:solidFill>
            <a:prstDash val="solid"/>
          </a:ln>
          <a:effectLst>
            <a:outerShdw sx="100000" sy="100000" kx="0" ky="0" algn="bl" rotWithShape="0" blurRad="6.766381932644821e+139" dist="1.3532763865289643e+140" dir="1.2893030998113172e+164">
              <a:srgbClr val="6D34AC">
                <a:alpha val="1.1999999999999998e+169"/>
              </a:srgbClr>
            </a:outerShdw>
          </a:effectLst>
        </p:spPr>
      </p:sp>
      <p:sp>
        <p:nvSpPr>
          <p:cNvPr id="30" name="Text 27"/>
          <p:cNvSpPr/>
          <p:nvPr/>
        </p:nvSpPr>
        <p:spPr>
          <a:xfrm>
            <a:off x="4059936" y="4846320"/>
            <a:ext cx="5998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Изображение даёт признаки, а не готовый ответ</a:t>
            </a:r>
            <a:endParaRPr lang="en-US" sz="14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111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1280160"/>
            <a:ext cx="4114800" cy="4114800"/>
          </a:xfrm>
          <a:prstGeom prst="ellipse">
            <a:avLst/>
          </a:prstGeom>
          <a:solidFill>
            <a:srgbClr val="6D34A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84080" y="4480560"/>
            <a:ext cx="3200400" cy="3200400"/>
          </a:xfrm>
          <a:prstGeom prst="ellipse">
            <a:avLst/>
          </a:prstGeom>
          <a:solidFill>
            <a:srgbClr val="FF7A00">
              <a:alpha val="24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6304" y="146304"/>
            <a:ext cx="11896344" cy="6528816"/>
          </a:xfrm>
          <a:prstGeom prst="roundRect">
            <a:avLst>
              <a:gd name="adj" fmla="val 1120"/>
            </a:avLst>
          </a:prstGeom>
          <a:solidFill>
            <a:srgbClr val="21113C">
              <a:alpha val="0"/>
            </a:srgbClr>
          </a:solidFill>
          <a:ln w="12700">
            <a:solidFill>
              <a:srgbClr val="D65CFF">
                <a:alpha val="8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310896"/>
            <a:ext cx="2834640" cy="0"/>
          </a:xfrm>
          <a:prstGeom prst="line">
            <a:avLst/>
          </a:prstGeom>
          <a:noFill/>
          <a:ln w="12700">
            <a:solidFill>
              <a:srgbClr val="FF9D32">
                <a:alpha val="88000"/>
              </a:srgbClr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8915400" y="310896"/>
            <a:ext cx="2724912" cy="0"/>
          </a:xfrm>
          <a:prstGeom prst="line">
            <a:avLst/>
          </a:prstGeom>
          <a:noFill/>
          <a:ln w="12700">
            <a:solidFill>
              <a:srgbClr val="9A5BDC">
                <a:alpha val="9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6519672"/>
            <a:ext cx="1828800" cy="0"/>
          </a:xfrm>
          <a:prstGeom prst="line">
            <a:avLst/>
          </a:prstGeom>
          <a:noFill/>
          <a:ln w="12700">
            <a:solidFill>
              <a:srgbClr val="9A5BDC">
                <a:alpha val="8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893808" y="6519672"/>
            <a:ext cx="1737360" cy="0"/>
          </a:xfrm>
          <a:prstGeom prst="line">
            <a:avLst/>
          </a:prstGeom>
          <a:noFill/>
          <a:ln w="12700">
            <a:solidFill>
              <a:srgbClr val="FF9D32">
                <a:alpha val="8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2064" y="34747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BD8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ЛАБОРАТОРИЯ ИИ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023360" y="329184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FA7F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ГЛАВА 2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235440" y="347472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D3A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17–25 МИН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1109960" y="320040"/>
            <a:ext cx="502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76656" y="621792"/>
            <a:ext cx="10835640" cy="585216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50800" dir="2700000">
              <a:srgbClr val="B64CFF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ln w="15240">
                  <a:solidFill>
                    <a:srgbClr val="A54AD4"/>
                  </a:solidFill>
                </a:ln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ЭМОЦИЯ В ГОЛОСЕ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1051560" y="1170432"/>
            <a:ext cx="10104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DCC6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Ученики против Алисы AI</a:t>
            </a:r>
            <a:endParaRPr lang="en-US" sz="1250" dirty="0"/>
          </a:p>
        </p:txBody>
      </p:sp>
      <p:pic>
        <p:nvPicPr>
          <p:cNvPr id="15" name="Image 0" descr="/workspace/generated_images/exec-e82c4108-65ea-4842-8c58-9105cdbf7bc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768" y="1325880"/>
            <a:ext cx="11356848" cy="4892040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429768" y="1325880"/>
            <a:ext cx="5715000" cy="4892040"/>
          </a:xfrm>
          <a:prstGeom prst="rect">
            <a:avLst/>
          </a:prstGeom>
          <a:solidFill>
            <a:srgbClr val="21113C">
              <a:alpha val="68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41248" y="1901952"/>
            <a:ext cx="48920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СЛОВА ОДИНАКОВЫЕ.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ИНТОНАЦИИ РАЗНЫЕ.</a:t>
            </a:r>
            <a:endParaRPr lang="en-US" sz="2600" dirty="0"/>
          </a:p>
        </p:txBody>
      </p:sp>
      <p:sp>
        <p:nvSpPr>
          <p:cNvPr id="18" name="Shape 15"/>
          <p:cNvSpPr/>
          <p:nvPr/>
        </p:nvSpPr>
        <p:spPr>
          <a:xfrm>
            <a:off x="941832" y="4334256"/>
            <a:ext cx="4434840" cy="493776"/>
          </a:xfrm>
          <a:prstGeom prst="roundRect">
            <a:avLst>
              <a:gd name="adj" fmla="val 22222"/>
            </a:avLst>
          </a:prstGeom>
          <a:solidFill>
            <a:srgbClr val="FF7A00"/>
          </a:solidFill>
          <a:ln w="12700">
            <a:solidFill>
              <a:srgbClr val="FFBE77"/>
            </a:solidFill>
            <a:prstDash val="solid"/>
          </a:ln>
          <a:effectLst>
            <a:outerShdw sx="100000" sy="100000" kx="0" ky="0" algn="bl" rotWithShape="0" blurRad="483870000" dist="645160000" dir="162000000000">
              <a:srgbClr val="4A1A70">
                <a:alpha val="1800000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1051560" y="4389120"/>
            <a:ext cx="4215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СЛУШАЕМ И СРАВНИВАЕМ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1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463040"/>
            <a:ext cx="4754880" cy="3749040"/>
          </a:xfrm>
          <a:prstGeom prst="ellipse">
            <a:avLst/>
          </a:prstGeom>
          <a:solidFill>
            <a:srgbClr val="F2DFFF">
              <a:alpha val="8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26880" y="4389120"/>
            <a:ext cx="3749040" cy="2926080"/>
          </a:xfrm>
          <a:prstGeom prst="ellipse">
            <a:avLst/>
          </a:prstGeom>
          <a:solidFill>
            <a:srgbClr val="FFE2C6">
              <a:alpha val="7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6304" y="146304"/>
            <a:ext cx="11896344" cy="6528816"/>
          </a:xfrm>
          <a:prstGeom prst="roundRect">
            <a:avLst>
              <a:gd name="adj" fmla="val 1120"/>
            </a:avLst>
          </a:prstGeom>
          <a:solidFill>
            <a:srgbClr val="FFFFFF">
              <a:alpha val="0"/>
            </a:srgbClr>
          </a:solidFill>
          <a:ln w="12700">
            <a:solidFill>
              <a:srgbClr val="B860E8">
                <a:alpha val="8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310896"/>
            <a:ext cx="2834640" cy="0"/>
          </a:xfrm>
          <a:prstGeom prst="line">
            <a:avLst/>
          </a:prstGeom>
          <a:noFill/>
          <a:ln w="12700">
            <a:solidFill>
              <a:srgbClr val="FF9D32">
                <a:alpha val="88000"/>
              </a:srgbClr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8915400" y="310896"/>
            <a:ext cx="2724912" cy="0"/>
          </a:xfrm>
          <a:prstGeom prst="line">
            <a:avLst/>
          </a:prstGeom>
          <a:noFill/>
          <a:ln w="12700">
            <a:solidFill>
              <a:srgbClr val="9A5BDC">
                <a:alpha val="9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6519672"/>
            <a:ext cx="1828800" cy="0"/>
          </a:xfrm>
          <a:prstGeom prst="line">
            <a:avLst/>
          </a:prstGeom>
          <a:noFill/>
          <a:ln w="12700">
            <a:solidFill>
              <a:srgbClr val="9A5BDC">
                <a:alpha val="8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893808" y="6519672"/>
            <a:ext cx="1737360" cy="0"/>
          </a:xfrm>
          <a:prstGeom prst="line">
            <a:avLst/>
          </a:prstGeom>
          <a:noFill/>
          <a:ln w="12700">
            <a:solidFill>
              <a:srgbClr val="FF9D32">
                <a:alpha val="8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2064" y="34747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D34A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ЛАБОРАТОРИЯ ИИ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023360" y="329184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F6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ЭМОЦИЯ В ГОЛОСЕ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235440" y="347472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7A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17–21 МИН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1109960" y="320040"/>
            <a:ext cx="502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D34A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76656" y="621792"/>
            <a:ext cx="10835640" cy="585216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50800" dir="2700000">
              <a:srgbClr val="7430A7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ln w="15240">
                  <a:solidFill>
                    <a:srgbClr val="FFFFFF"/>
                  </a:solidFill>
                </a:ln>
                <a:solidFill>
                  <a:srgbClr val="FF7A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КТО КАК УСЛЫШАЛ?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1051560" y="1170432"/>
            <a:ext cx="10104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414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Фраза во всех трёх записях: «Ну хорошо»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58368" y="1554480"/>
            <a:ext cx="3044952" cy="3429000"/>
          </a:xfrm>
          <a:prstGeom prst="roundRect">
            <a:avLst>
              <a:gd name="adj" fmla="val 2402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FF7A00">
                <a:alpha val="78000"/>
              </a:srgbClr>
            </a:solidFill>
            <a:prstDash val="solid"/>
          </a:ln>
          <a:effectLst>
            <a:outerShdw sx="100000" sy="100000" kx="0" ky="0" algn="bl" rotWithShape="0" blurRad="8.593305054458923e+143" dist="1.7186610108917847e+144" dir="7.735818598867904e+168">
              <a:srgbClr val="6D34AC">
                <a:alpha val="1.1999999999999997e+174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645920" y="1874520"/>
            <a:ext cx="1069848" cy="1069848"/>
          </a:xfrm>
          <a:prstGeom prst="ellipse">
            <a:avLst/>
          </a:prstGeom>
          <a:solidFill>
            <a:srgbClr val="FF7A00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6145149000000" dist="8193532000000" dir="9720000000000000">
              <a:srgbClr val="4A1A70">
                <a:alpha val="18000000000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691640" y="2112264"/>
            <a:ext cx="9692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▶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051560" y="3182112"/>
            <a:ext cx="2258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7A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∿∿∿∿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1161288" y="4087368"/>
            <a:ext cx="2029968" cy="384048"/>
          </a:xfrm>
          <a:prstGeom prst="roundRect">
            <a:avLst>
              <a:gd name="adj" fmla="val 28571"/>
            </a:avLst>
          </a:prstGeom>
          <a:solidFill>
            <a:srgbClr val="FF7A00"/>
          </a:solidFill>
          <a:ln w="12700">
            <a:solidFill>
              <a:srgbClr val="FF7A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34440" y="4105656"/>
            <a:ext cx="1883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ЗАПИСЬ А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233672" y="1554480"/>
            <a:ext cx="3044952" cy="3429000"/>
          </a:xfrm>
          <a:prstGeom prst="roundRect">
            <a:avLst>
              <a:gd name="adj" fmla="val 2402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6D34AC">
                <a:alpha val="78000"/>
              </a:srgbClr>
            </a:solidFill>
            <a:prstDash val="solid"/>
          </a:ln>
          <a:effectLst>
            <a:outerShdw sx="100000" sy="100000" kx="0" ky="0" algn="bl" rotWithShape="0" blurRad="1.0913497419162833e+148" dist="2.1826994838325667e+148" dir="4.6414911593207425e+173">
              <a:srgbClr val="6D34AC">
                <a:alpha val="1.1999999999999996e+179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221224" y="1874520"/>
            <a:ext cx="1069848" cy="1069848"/>
          </a:xfrm>
          <a:prstGeom prst="ellipse">
            <a:avLst/>
          </a:prstGeom>
          <a:solidFill>
            <a:srgbClr val="6D34AC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8043392300000000" dist="104057856400000000" dir="583200000000000000000">
              <a:srgbClr val="4A1A70">
                <a:alpha val="1800000000000000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266944" y="2112264"/>
            <a:ext cx="9692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▶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4626864" y="3182112"/>
            <a:ext cx="2258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D34A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▲▼▲▼</a:t>
            </a:r>
            <a:endParaRPr lang="en-US" sz="2400" dirty="0"/>
          </a:p>
        </p:txBody>
      </p:sp>
      <p:sp>
        <p:nvSpPr>
          <p:cNvPr id="25" name="Shape 23"/>
          <p:cNvSpPr/>
          <p:nvPr/>
        </p:nvSpPr>
        <p:spPr>
          <a:xfrm>
            <a:off x="4736592" y="4087368"/>
            <a:ext cx="2029968" cy="384048"/>
          </a:xfrm>
          <a:prstGeom prst="roundRect">
            <a:avLst>
              <a:gd name="adj" fmla="val 28571"/>
            </a:avLst>
          </a:prstGeom>
          <a:solidFill>
            <a:srgbClr val="6D34AC"/>
          </a:solidFill>
          <a:ln w="12700">
            <a:solidFill>
              <a:srgbClr val="6D34A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9744" y="4105656"/>
            <a:ext cx="1883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ЗАПИСЬ Б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7808976" y="1554480"/>
            <a:ext cx="3044952" cy="3429000"/>
          </a:xfrm>
          <a:prstGeom prst="roundRect">
            <a:avLst>
              <a:gd name="adj" fmla="val 2402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47C9FF">
                <a:alpha val="78000"/>
              </a:srgbClr>
            </a:solidFill>
            <a:prstDash val="solid"/>
          </a:ln>
          <a:effectLst>
            <a:outerShdw sx="100000" sy="100000" kx="0" ky="0" algn="bl" rotWithShape="0" blurRad="1.38601417223368e+152" dist="2.77202834446736e+152" dir="2.7848946955924455e+178">
              <a:srgbClr val="6D34AC">
                <a:alpha val="1.1999999999999996e+184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8796528" y="1874520"/>
            <a:ext cx="1069848" cy="1069848"/>
          </a:xfrm>
          <a:prstGeom prst="ellipse">
            <a:avLst/>
          </a:prstGeom>
          <a:solidFill>
            <a:srgbClr val="47C9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991151082210000000000" dist="1.32153477628e+21" dir="3.4992e+25">
              <a:srgbClr val="4A1A70">
                <a:alpha val="1.8e+24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8842248" y="2112264"/>
            <a:ext cx="9692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▶</a:t>
            </a:r>
            <a:endParaRPr lang="en-US" sz="2100" dirty="0"/>
          </a:p>
        </p:txBody>
      </p:sp>
      <p:sp>
        <p:nvSpPr>
          <p:cNvPr id="30" name="Text 28"/>
          <p:cNvSpPr/>
          <p:nvPr/>
        </p:nvSpPr>
        <p:spPr>
          <a:xfrm>
            <a:off x="8202168" y="3182112"/>
            <a:ext cx="2258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7C9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— · — ·</a:t>
            </a:r>
            <a:endParaRPr lang="en-US" sz="2400" dirty="0"/>
          </a:p>
        </p:txBody>
      </p:sp>
      <p:sp>
        <p:nvSpPr>
          <p:cNvPr id="31" name="Shape 29"/>
          <p:cNvSpPr/>
          <p:nvPr/>
        </p:nvSpPr>
        <p:spPr>
          <a:xfrm>
            <a:off x="8311896" y="4087368"/>
            <a:ext cx="2029968" cy="384048"/>
          </a:xfrm>
          <a:prstGeom prst="roundRect">
            <a:avLst>
              <a:gd name="adj" fmla="val 28571"/>
            </a:avLst>
          </a:prstGeom>
          <a:solidFill>
            <a:srgbClr val="47C9FF"/>
          </a:solidFill>
          <a:ln w="12700">
            <a:solidFill>
              <a:srgbClr val="47C9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385048" y="4105656"/>
            <a:ext cx="1883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ЗАПИСЬ В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2029968" y="5413248"/>
            <a:ext cx="8138160" cy="384048"/>
          </a:xfrm>
          <a:prstGeom prst="roundRect">
            <a:avLst>
              <a:gd name="adj" fmla="val 28571"/>
            </a:avLst>
          </a:prstGeom>
          <a:solidFill>
            <a:srgbClr val="21113C"/>
          </a:solidFill>
          <a:ln w="12700">
            <a:solidFill>
              <a:srgbClr val="21113C"/>
            </a:solidFill>
            <a:prstDash val="solid"/>
          </a:ln>
          <a:effectLst>
            <a:outerShdw sx="100000" sy="100000" kx="0" ky="0" algn="bl" rotWithShape="0" blurRad="1.7602379987367734e+156" dist="3.520475997473547e+156" dir="1.6709368173554673e+183">
              <a:srgbClr val="6D34AC">
                <a:alpha val="1.1999999999999995e+189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2103120" y="5431536"/>
            <a:ext cx="79918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РАДОСТНО  •  РАЗДРАЖЁННО  •  НЕУВЕРЕННО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1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463040"/>
            <a:ext cx="4754880" cy="3749040"/>
          </a:xfrm>
          <a:prstGeom prst="ellipse">
            <a:avLst/>
          </a:prstGeom>
          <a:solidFill>
            <a:srgbClr val="F2DFFF">
              <a:alpha val="8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26880" y="4389120"/>
            <a:ext cx="3749040" cy="2926080"/>
          </a:xfrm>
          <a:prstGeom prst="ellipse">
            <a:avLst/>
          </a:prstGeom>
          <a:solidFill>
            <a:srgbClr val="FFE2C6">
              <a:alpha val="7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6304" y="146304"/>
            <a:ext cx="11896344" cy="6528816"/>
          </a:xfrm>
          <a:prstGeom prst="roundRect">
            <a:avLst>
              <a:gd name="adj" fmla="val 1120"/>
            </a:avLst>
          </a:prstGeom>
          <a:solidFill>
            <a:srgbClr val="FFFFFF">
              <a:alpha val="0"/>
            </a:srgbClr>
          </a:solidFill>
          <a:ln w="12700">
            <a:solidFill>
              <a:srgbClr val="B860E8">
                <a:alpha val="8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310896"/>
            <a:ext cx="2834640" cy="0"/>
          </a:xfrm>
          <a:prstGeom prst="line">
            <a:avLst/>
          </a:prstGeom>
          <a:noFill/>
          <a:ln w="12700">
            <a:solidFill>
              <a:srgbClr val="FF9D32">
                <a:alpha val="88000"/>
              </a:srgbClr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8915400" y="310896"/>
            <a:ext cx="2724912" cy="0"/>
          </a:xfrm>
          <a:prstGeom prst="line">
            <a:avLst/>
          </a:prstGeom>
          <a:noFill/>
          <a:ln w="12700">
            <a:solidFill>
              <a:srgbClr val="9A5BDC">
                <a:alpha val="9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6519672"/>
            <a:ext cx="1828800" cy="0"/>
          </a:xfrm>
          <a:prstGeom prst="line">
            <a:avLst/>
          </a:prstGeom>
          <a:noFill/>
          <a:ln w="12700">
            <a:solidFill>
              <a:srgbClr val="9A5BDC">
                <a:alpha val="8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893808" y="6519672"/>
            <a:ext cx="1737360" cy="0"/>
          </a:xfrm>
          <a:prstGeom prst="line">
            <a:avLst/>
          </a:prstGeom>
          <a:noFill/>
          <a:ln w="12700">
            <a:solidFill>
              <a:srgbClr val="FF9D32">
                <a:alpha val="8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2064" y="34747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D34A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ЛАБОРАТОРИЯ ИИ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023360" y="329184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F6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ЭМОЦИЯ В ГОЛОСЕ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235440" y="347472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7A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17–21 МИН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1109960" y="320040"/>
            <a:ext cx="502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D34A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13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76656" y="621792"/>
            <a:ext cx="10835640" cy="585216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50800" dir="2700000">
              <a:srgbClr val="7430A7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ln w="15240">
                  <a:solidFill>
                    <a:srgbClr val="FFFFFF"/>
                  </a:solidFill>
                </a:ln>
                <a:solidFill>
                  <a:srgbClr val="FF7A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СЛУШАЕМ ПРИЗНАКИ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1051560" y="1170432"/>
            <a:ext cx="10104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414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Какие детали голоса повлияли на вашу версию?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49808" y="1664208"/>
            <a:ext cx="3364992" cy="3602736"/>
          </a:xfrm>
          <a:prstGeom prst="roundRect">
            <a:avLst>
              <a:gd name="adj" fmla="val 2174"/>
            </a:avLst>
          </a:prstGeom>
          <a:solidFill>
            <a:srgbClr val="FFFFFF">
              <a:alpha val="98000"/>
            </a:srgbClr>
          </a:solidFill>
          <a:ln w="12700">
            <a:solidFill>
              <a:srgbClr val="FF7A00">
                <a:alpha val="78000"/>
              </a:srgbClr>
            </a:solidFill>
            <a:prstDash val="solid"/>
          </a:ln>
          <a:effectLst>
            <a:outerShdw sx="100000" sy="100000" kx="0" ky="0" algn="bl" rotWithShape="0" blurRad="2.235502258395702e+160" dist="4.471004516791404e+160" dir="1.0025620904132804e+188">
              <a:srgbClr val="6D34AC">
                <a:alpha val="1.1999999999999995e+194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96112" y="1810512"/>
            <a:ext cx="566928" cy="384048"/>
          </a:xfrm>
          <a:prstGeom prst="roundRect">
            <a:avLst>
              <a:gd name="adj" fmla="val 28571"/>
            </a:avLst>
          </a:prstGeom>
          <a:solidFill>
            <a:srgbClr val="FF7A0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6112" y="1783080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↗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554480" y="1801368"/>
            <a:ext cx="23774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414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ТЕМП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50976" y="2322576"/>
            <a:ext cx="2962656" cy="2779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414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Быстро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2414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или медленно?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4407408" y="1664208"/>
            <a:ext cx="3364992" cy="3602736"/>
          </a:xfrm>
          <a:prstGeom prst="roundRect">
            <a:avLst>
              <a:gd name="adj" fmla="val 2174"/>
            </a:avLst>
          </a:prstGeom>
          <a:solidFill>
            <a:srgbClr val="FFFFFF">
              <a:alpha val="98000"/>
            </a:srgbClr>
          </a:solidFill>
          <a:ln w="12700">
            <a:solidFill>
              <a:srgbClr val="6D34AC">
                <a:alpha val="78000"/>
              </a:srgbClr>
            </a:solidFill>
            <a:prstDash val="solid"/>
          </a:ln>
          <a:effectLst>
            <a:outerShdw sx="100000" sy="100000" kx="0" ky="0" algn="bl" rotWithShape="0" blurRad="2.8390878681625417e+164" dist="5.678175736325083e+164" dir="6.015372542479682e+192">
              <a:srgbClr val="6D34AC">
                <a:alpha val="1.1999999999999994e+199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53712" y="1810512"/>
            <a:ext cx="566928" cy="384048"/>
          </a:xfrm>
          <a:prstGeom prst="roundRect">
            <a:avLst>
              <a:gd name="adj" fmla="val 28571"/>
            </a:avLst>
          </a:prstGeom>
          <a:solidFill>
            <a:srgbClr val="6D34A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53712" y="1783080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◖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212080" y="1801368"/>
            <a:ext cx="23774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414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ГРОМКОСТЬ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4608576" y="2322576"/>
            <a:ext cx="2962656" cy="2779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414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Громко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2414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или тихо?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8065008" y="1664208"/>
            <a:ext cx="3364992" cy="3602736"/>
          </a:xfrm>
          <a:prstGeom prst="roundRect">
            <a:avLst>
              <a:gd name="adj" fmla="val 2174"/>
            </a:avLst>
          </a:prstGeom>
          <a:solidFill>
            <a:srgbClr val="FFFFFF">
              <a:alpha val="98000"/>
            </a:srgbClr>
          </a:solidFill>
          <a:ln w="12700">
            <a:solidFill>
              <a:srgbClr val="47C9FF">
                <a:alpha val="78000"/>
              </a:srgbClr>
            </a:solidFill>
            <a:prstDash val="solid"/>
          </a:ln>
          <a:effectLst>
            <a:outerShdw sx="100000" sy="100000" kx="0" ky="0" algn="bl" rotWithShape="0" blurRad="3.605641592566428e+168" dist="7.211283185132856e+168" dir="3.6092235254878095e+197">
              <a:srgbClr val="6D34AC">
                <a:alpha val="1.1999999999999994e+204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211312" y="1810512"/>
            <a:ext cx="566928" cy="384048"/>
          </a:xfrm>
          <a:prstGeom prst="roundRect">
            <a:avLst>
              <a:gd name="adj" fmla="val 28571"/>
            </a:avLst>
          </a:prstGeom>
          <a:solidFill>
            <a:srgbClr val="47C9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11312" y="1783080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Ⅱ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8869680" y="1801368"/>
            <a:ext cx="23774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414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ПАУЗЫ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8266176" y="2322576"/>
            <a:ext cx="2962656" cy="2779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414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Ровно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2414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или с остановками?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2944368" y="5532120"/>
            <a:ext cx="6309360" cy="384048"/>
          </a:xfrm>
          <a:prstGeom prst="roundRect">
            <a:avLst>
              <a:gd name="adj" fmla="val 28571"/>
            </a:avLst>
          </a:prstGeom>
          <a:solidFill>
            <a:srgbClr val="21113C"/>
          </a:solidFill>
          <a:ln w="12700">
            <a:solidFill>
              <a:srgbClr val="21113C"/>
            </a:solidFill>
            <a:prstDash val="solid"/>
          </a:ln>
          <a:effectLst>
            <a:outerShdw sx="100000" sy="100000" kx="0" ky="0" algn="bl" rotWithShape="0" blurRad="4.579164822559364e+172" dist="9.158329645118728e+172" dir="2.1655341152926858e+202">
              <a:srgbClr val="6D34AC">
                <a:alpha val="1.1999999999999994e+209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3017520" y="5550408"/>
            <a:ext cx="6163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Признак помогает объяснить версию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1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463040"/>
            <a:ext cx="4754880" cy="3749040"/>
          </a:xfrm>
          <a:prstGeom prst="ellipse">
            <a:avLst/>
          </a:prstGeom>
          <a:solidFill>
            <a:srgbClr val="F2DFFF">
              <a:alpha val="8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26880" y="4389120"/>
            <a:ext cx="3749040" cy="2926080"/>
          </a:xfrm>
          <a:prstGeom prst="ellipse">
            <a:avLst/>
          </a:prstGeom>
          <a:solidFill>
            <a:srgbClr val="FFE2C6">
              <a:alpha val="7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6304" y="146304"/>
            <a:ext cx="11896344" cy="6528816"/>
          </a:xfrm>
          <a:prstGeom prst="roundRect">
            <a:avLst>
              <a:gd name="adj" fmla="val 1120"/>
            </a:avLst>
          </a:prstGeom>
          <a:solidFill>
            <a:srgbClr val="FFFFFF">
              <a:alpha val="0"/>
            </a:srgbClr>
          </a:solidFill>
          <a:ln w="12700">
            <a:solidFill>
              <a:srgbClr val="B860E8">
                <a:alpha val="8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310896"/>
            <a:ext cx="2834640" cy="0"/>
          </a:xfrm>
          <a:prstGeom prst="line">
            <a:avLst/>
          </a:prstGeom>
          <a:noFill/>
          <a:ln w="12700">
            <a:solidFill>
              <a:srgbClr val="FF9D32">
                <a:alpha val="88000"/>
              </a:srgbClr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8915400" y="310896"/>
            <a:ext cx="2724912" cy="0"/>
          </a:xfrm>
          <a:prstGeom prst="line">
            <a:avLst/>
          </a:prstGeom>
          <a:noFill/>
          <a:ln w="12700">
            <a:solidFill>
              <a:srgbClr val="9A5BDC">
                <a:alpha val="9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6519672"/>
            <a:ext cx="1828800" cy="0"/>
          </a:xfrm>
          <a:prstGeom prst="line">
            <a:avLst/>
          </a:prstGeom>
          <a:noFill/>
          <a:ln w="12700">
            <a:solidFill>
              <a:srgbClr val="9A5BDC">
                <a:alpha val="8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893808" y="6519672"/>
            <a:ext cx="1737360" cy="0"/>
          </a:xfrm>
          <a:prstGeom prst="line">
            <a:avLst/>
          </a:prstGeom>
          <a:noFill/>
          <a:ln w="12700">
            <a:solidFill>
              <a:srgbClr val="FF9D32">
                <a:alpha val="8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2064" y="34747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D34A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ЛАБОРАТОРИЯ ИИ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023360" y="329184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F6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ЭМОЦИЯ В ГОЛОСЕ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235440" y="347472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7A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21–25 МИН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1109960" y="320040"/>
            <a:ext cx="502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D34A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14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76656" y="621792"/>
            <a:ext cx="10835640" cy="585216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50800" dir="2700000">
              <a:srgbClr val="7430A7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ln w="15240">
                  <a:solidFill>
                    <a:srgbClr val="FFFFFF"/>
                  </a:solidFill>
                </a:ln>
                <a:solidFill>
                  <a:srgbClr val="FF7A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НАШИ ВЕРСИИ / ВЕРСИЯ ИИ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1051560" y="1170432"/>
            <a:ext cx="10104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414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Заполняйте табло прямо во время эксперимента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21792" y="1508760"/>
            <a:ext cx="5468112" cy="4352544"/>
          </a:xfrm>
          <a:prstGeom prst="roundRect">
            <a:avLst>
              <a:gd name="adj" fmla="val 1681"/>
            </a:avLst>
          </a:prstGeom>
          <a:solidFill>
            <a:srgbClr val="F7F1FF">
              <a:alpha val="96000"/>
            </a:srgbClr>
          </a:solidFill>
          <a:ln w="12700">
            <a:solidFill>
              <a:srgbClr val="6D34AC">
                <a:alpha val="78000"/>
              </a:srgbClr>
            </a:solidFill>
            <a:prstDash val="solid"/>
          </a:ln>
          <a:effectLst>
            <a:outerShdw sx="100000" sy="100000" kx="0" ky="0" algn="bl" rotWithShape="0" blurRad="5.815539324650392e+176" dist="1.1631078649300784e+177" dir="1.2993204691756116e+207">
              <a:srgbClr val="6D34AC">
                <a:alpha val="1.1999999999999993e+214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45352" y="1508760"/>
            <a:ext cx="5321808" cy="4352544"/>
          </a:xfrm>
          <a:prstGeom prst="roundRect">
            <a:avLst>
              <a:gd name="adj" fmla="val 1681"/>
            </a:avLst>
          </a:prstGeom>
          <a:solidFill>
            <a:srgbClr val="EEF9FF">
              <a:alpha val="96000"/>
            </a:srgbClr>
          </a:solidFill>
          <a:ln w="12700">
            <a:solidFill>
              <a:srgbClr val="47C9FF">
                <a:alpha val="78000"/>
              </a:srgbClr>
            </a:solidFill>
            <a:prstDash val="solid"/>
          </a:ln>
          <a:effectLst>
            <a:outerShdw sx="100000" sy="100000" kx="0" ky="0" algn="bl" rotWithShape="0" blurRad="7.385734942305998e+180" dist="1.4771469884611996e+181" dir="7.795922815053669e+211">
              <a:srgbClr val="6D34AC">
                <a:alpha val="1.1999999999999994e+219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627632" y="1755648"/>
            <a:ext cx="3520440" cy="384048"/>
          </a:xfrm>
          <a:prstGeom prst="roundRect">
            <a:avLst>
              <a:gd name="adj" fmla="val 28571"/>
            </a:avLst>
          </a:prstGeom>
          <a:solidFill>
            <a:srgbClr val="6D34AC"/>
          </a:solidFill>
          <a:ln w="12700">
            <a:solidFill>
              <a:srgbClr val="6D34A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700784" y="1773936"/>
            <a:ext cx="33741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НАШИ ВЕРСИИ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141464" y="1755648"/>
            <a:ext cx="3520440" cy="384048"/>
          </a:xfrm>
          <a:prstGeom prst="roundRect">
            <a:avLst>
              <a:gd name="adj" fmla="val 28571"/>
            </a:avLst>
          </a:prstGeom>
          <a:solidFill>
            <a:srgbClr val="6384C8"/>
          </a:solidFill>
          <a:ln w="12700">
            <a:solidFill>
              <a:srgbClr val="6384C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214616" y="1773936"/>
            <a:ext cx="33741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ВЕРСИЯ ИИ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960120" y="2514600"/>
            <a:ext cx="4736592" cy="612648"/>
          </a:xfrm>
          <a:prstGeom prst="roundRect">
            <a:avLst>
              <a:gd name="adj" fmla="val 10448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9A5BDC">
                <a:alpha val="5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56248" y="2514600"/>
            <a:ext cx="4663440" cy="612648"/>
          </a:xfrm>
          <a:prstGeom prst="roundRect">
            <a:avLst>
              <a:gd name="adj" fmla="val 10448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47C9FF">
                <a:alpha val="52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8992" y="267004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34A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675120" y="267004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384C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960120" y="3355848"/>
            <a:ext cx="4736592" cy="612648"/>
          </a:xfrm>
          <a:prstGeom prst="roundRect">
            <a:avLst>
              <a:gd name="adj" fmla="val 10448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9A5BDC">
                <a:alpha val="5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56248" y="3355848"/>
            <a:ext cx="4663440" cy="612648"/>
          </a:xfrm>
          <a:prstGeom prst="roundRect">
            <a:avLst>
              <a:gd name="adj" fmla="val 10448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47C9FF">
                <a:alpha val="52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78992" y="351129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34A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Б.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675120" y="351129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384C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Б.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960120" y="4197096"/>
            <a:ext cx="4736592" cy="612648"/>
          </a:xfrm>
          <a:prstGeom prst="roundRect">
            <a:avLst>
              <a:gd name="adj" fmla="val 10448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9A5BDC">
                <a:alpha val="5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556248" y="4197096"/>
            <a:ext cx="4663440" cy="612648"/>
          </a:xfrm>
          <a:prstGeom prst="roundRect">
            <a:avLst>
              <a:gd name="adj" fmla="val 10448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47C9FF">
                <a:alpha val="52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78992" y="435254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34A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В.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675120" y="435254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384C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В.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063240" y="6044184"/>
            <a:ext cx="6080760" cy="384048"/>
          </a:xfrm>
          <a:prstGeom prst="roundRect">
            <a:avLst>
              <a:gd name="adj" fmla="val 28571"/>
            </a:avLst>
          </a:prstGeom>
          <a:solidFill>
            <a:srgbClr val="21113C"/>
          </a:solidFill>
          <a:ln w="12700">
            <a:solidFill>
              <a:srgbClr val="21113C"/>
            </a:solidFill>
            <a:prstDash val="solid"/>
          </a:ln>
          <a:effectLst>
            <a:outerShdw sx="100000" sy="100000" kx="0" ky="0" algn="bl" rotWithShape="0" blurRad="9.379883376728618e+184" dist="1.8759766753457235e+185" dir="4.677553689032201e+216">
              <a:srgbClr val="6D34AC">
                <a:alpha val="1.1999999999999994e+224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3136392" y="6062472"/>
            <a:ext cx="59344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Совпали версии? Какие признаки названы?</a:t>
            </a:r>
            <a:endParaRPr lang="en-US" sz="14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1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463040"/>
            <a:ext cx="4754880" cy="3749040"/>
          </a:xfrm>
          <a:prstGeom prst="ellipse">
            <a:avLst/>
          </a:prstGeom>
          <a:solidFill>
            <a:srgbClr val="F2DFFF">
              <a:alpha val="8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26880" y="4389120"/>
            <a:ext cx="3749040" cy="2926080"/>
          </a:xfrm>
          <a:prstGeom prst="ellipse">
            <a:avLst/>
          </a:prstGeom>
          <a:solidFill>
            <a:srgbClr val="FFE2C6">
              <a:alpha val="7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6304" y="146304"/>
            <a:ext cx="11896344" cy="6528816"/>
          </a:xfrm>
          <a:prstGeom prst="roundRect">
            <a:avLst>
              <a:gd name="adj" fmla="val 1120"/>
            </a:avLst>
          </a:prstGeom>
          <a:solidFill>
            <a:srgbClr val="FFFFFF">
              <a:alpha val="0"/>
            </a:srgbClr>
          </a:solidFill>
          <a:ln w="12700">
            <a:solidFill>
              <a:srgbClr val="B860E8">
                <a:alpha val="8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310896"/>
            <a:ext cx="2834640" cy="0"/>
          </a:xfrm>
          <a:prstGeom prst="line">
            <a:avLst/>
          </a:prstGeom>
          <a:noFill/>
          <a:ln w="12700">
            <a:solidFill>
              <a:srgbClr val="FF9D32">
                <a:alpha val="88000"/>
              </a:srgbClr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8915400" y="310896"/>
            <a:ext cx="2724912" cy="0"/>
          </a:xfrm>
          <a:prstGeom prst="line">
            <a:avLst/>
          </a:prstGeom>
          <a:noFill/>
          <a:ln w="12700">
            <a:solidFill>
              <a:srgbClr val="9A5BDC">
                <a:alpha val="9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6519672"/>
            <a:ext cx="1828800" cy="0"/>
          </a:xfrm>
          <a:prstGeom prst="line">
            <a:avLst/>
          </a:prstGeom>
          <a:noFill/>
          <a:ln w="12700">
            <a:solidFill>
              <a:srgbClr val="9A5BDC">
                <a:alpha val="8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893808" y="6519672"/>
            <a:ext cx="1737360" cy="0"/>
          </a:xfrm>
          <a:prstGeom prst="line">
            <a:avLst/>
          </a:prstGeom>
          <a:noFill/>
          <a:ln w="12700">
            <a:solidFill>
              <a:srgbClr val="FF9D32">
                <a:alpha val="8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2064" y="34747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D34A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ЛАБОРАТОРИЯ ИИ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023360" y="329184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F6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ЭМОЦИЯ В ГОЛОСЕ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235440" y="347472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7A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21–25 МИН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1109960" y="320040"/>
            <a:ext cx="502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D34A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15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76656" y="621792"/>
            <a:ext cx="10835640" cy="585216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50800" dir="2700000">
              <a:srgbClr val="7430A7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ln w="15240">
                  <a:solidFill>
                    <a:srgbClr val="FFFFFF"/>
                  </a:solidFill>
                </a:ln>
                <a:solidFill>
                  <a:srgbClr val="FF7A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ИИ ТОЖЕ ПРЕДПОЛАГАЕТ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1051560" y="1170432"/>
            <a:ext cx="10104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414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Разные разумные версии могут не совпасть</a:t>
            </a:r>
            <a:endParaRPr lang="en-US" sz="1250" dirty="0"/>
          </a:p>
        </p:txBody>
      </p:sp>
      <p:pic>
        <p:nvPicPr>
          <p:cNvPr id="15" name="Image 0" descr="/tmp/lesson18_assets/do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8636" y="1325880"/>
            <a:ext cx="2550136" cy="5084064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3493008" y="1609344"/>
            <a:ext cx="7516368" cy="4352544"/>
          </a:xfrm>
          <a:prstGeom prst="roundRect">
            <a:avLst>
              <a:gd name="adj" fmla="val 1681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47C9FF">
                <a:alpha val="78000"/>
              </a:srgbClr>
            </a:solidFill>
            <a:prstDash val="solid"/>
          </a:ln>
          <a:effectLst>
            <a:outerShdw sx="100000" sy="100000" kx="0" ky="0" algn="bl" rotWithShape="0" blurRad="1.1912451888445345e+189" dist="2.382490377689069e+189" dir="2.806532213419321e+221">
              <a:srgbClr val="6D34AC">
                <a:alpha val="1.1999999999999994e+229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3886200" y="1920240"/>
            <a:ext cx="2907792" cy="384048"/>
          </a:xfrm>
          <a:prstGeom prst="roundRect">
            <a:avLst>
              <a:gd name="adj" fmla="val 28571"/>
            </a:avLst>
          </a:prstGeom>
          <a:solidFill>
            <a:srgbClr val="F06666"/>
          </a:solidFill>
          <a:ln w="12700">
            <a:solidFill>
              <a:srgbClr val="F0666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959352" y="1938528"/>
            <a:ext cx="2761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НЕ СТАВИМ ШТАМП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3886200" y="2505456"/>
            <a:ext cx="2907792" cy="969264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12700">
            <a:solidFill>
              <a:srgbClr val="F06666">
                <a:alpha val="78000"/>
              </a:srgbClr>
            </a:solidFill>
            <a:prstDash val="solid"/>
          </a:ln>
          <a:effectLst>
            <a:outerShdw sx="100000" sy="100000" kx="0" ky="0" algn="bl" rotWithShape="0" blurRad="1.5128813898325588e+193" dist="3.0257627796651175e+193" dir="1.6839193280515925e+226">
              <a:srgbClr val="6D34AC">
                <a:alpha val="1.1999999999999994e+234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050792" y="2651760"/>
            <a:ext cx="109728" cy="676656"/>
          </a:xfrm>
          <a:prstGeom prst="roundRect">
            <a:avLst>
              <a:gd name="adj" fmla="val 33333"/>
            </a:avLst>
          </a:prstGeom>
          <a:solidFill>
            <a:srgbClr val="F0666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325112" y="2642616"/>
            <a:ext cx="2286000" cy="6949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414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«Человек злится»</a:t>
            </a:r>
            <a:endParaRPr lang="en-US" sz="1900" dirty="0"/>
          </a:p>
        </p:txBody>
      </p:sp>
      <p:sp>
        <p:nvSpPr>
          <p:cNvPr id="22" name="Shape 19"/>
          <p:cNvSpPr/>
          <p:nvPr/>
        </p:nvSpPr>
        <p:spPr>
          <a:xfrm>
            <a:off x="7479792" y="1920240"/>
            <a:ext cx="2907792" cy="384048"/>
          </a:xfrm>
          <a:prstGeom prst="roundRect">
            <a:avLst>
              <a:gd name="adj" fmla="val 28571"/>
            </a:avLst>
          </a:prstGeom>
          <a:solidFill>
            <a:srgbClr val="36C98F"/>
          </a:solidFill>
          <a:ln w="12700">
            <a:solidFill>
              <a:srgbClr val="36C98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552944" y="1938528"/>
            <a:ext cx="2761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ЛУЧШЕ СПРОСИТЬ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7178040" y="2505456"/>
            <a:ext cx="3520440" cy="969264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12700">
            <a:solidFill>
              <a:srgbClr val="36C98F">
                <a:alpha val="78000"/>
              </a:srgbClr>
            </a:solidFill>
            <a:prstDash val="solid"/>
          </a:ln>
          <a:effectLst>
            <a:outerShdw sx="100000" sy="100000" kx="0" ky="0" algn="bl" rotWithShape="0" blurRad="1.9213593650873497e+197" dist="3.8427187301746993e+197" dir="1.0103515968309554e+231">
              <a:srgbClr val="6D34AC">
                <a:alpha val="1.1999999999999992e+239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7342632" y="2651760"/>
            <a:ext cx="109728" cy="676656"/>
          </a:xfrm>
          <a:prstGeom prst="roundRect">
            <a:avLst>
              <a:gd name="adj" fmla="val 33333"/>
            </a:avLst>
          </a:prstGeom>
          <a:solidFill>
            <a:srgbClr val="36C98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616952" y="2642616"/>
            <a:ext cx="2898648" cy="6949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414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«Мне показалось, ты расстроен.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2414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Я правильно понял?»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4005072" y="4069080"/>
            <a:ext cx="63825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414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 голосу можно предположить настроение,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2414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но нельзя знать его наверняка.</a:t>
            </a:r>
            <a:endParaRPr lang="en-US" sz="2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111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1280160"/>
            <a:ext cx="4114800" cy="4114800"/>
          </a:xfrm>
          <a:prstGeom prst="ellipse">
            <a:avLst/>
          </a:prstGeom>
          <a:solidFill>
            <a:srgbClr val="6D34A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84080" y="4480560"/>
            <a:ext cx="3200400" cy="3200400"/>
          </a:xfrm>
          <a:prstGeom prst="ellipse">
            <a:avLst/>
          </a:prstGeom>
          <a:solidFill>
            <a:srgbClr val="FF7A00">
              <a:alpha val="24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6304" y="146304"/>
            <a:ext cx="11896344" cy="6528816"/>
          </a:xfrm>
          <a:prstGeom prst="roundRect">
            <a:avLst>
              <a:gd name="adj" fmla="val 1120"/>
            </a:avLst>
          </a:prstGeom>
          <a:solidFill>
            <a:srgbClr val="21113C">
              <a:alpha val="0"/>
            </a:srgbClr>
          </a:solidFill>
          <a:ln w="12700">
            <a:solidFill>
              <a:srgbClr val="D65CFF">
                <a:alpha val="8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310896"/>
            <a:ext cx="2834640" cy="0"/>
          </a:xfrm>
          <a:prstGeom prst="line">
            <a:avLst/>
          </a:prstGeom>
          <a:noFill/>
          <a:ln w="12700">
            <a:solidFill>
              <a:srgbClr val="FF9D32">
                <a:alpha val="88000"/>
              </a:srgbClr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8915400" y="310896"/>
            <a:ext cx="2724912" cy="0"/>
          </a:xfrm>
          <a:prstGeom prst="line">
            <a:avLst/>
          </a:prstGeom>
          <a:noFill/>
          <a:ln w="12700">
            <a:solidFill>
              <a:srgbClr val="9A5BDC">
                <a:alpha val="9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6519672"/>
            <a:ext cx="1828800" cy="0"/>
          </a:xfrm>
          <a:prstGeom prst="line">
            <a:avLst/>
          </a:prstGeom>
          <a:noFill/>
          <a:ln w="12700">
            <a:solidFill>
              <a:srgbClr val="9A5BDC">
                <a:alpha val="8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893808" y="6519672"/>
            <a:ext cx="1737360" cy="0"/>
          </a:xfrm>
          <a:prstGeom prst="line">
            <a:avLst/>
          </a:prstGeom>
          <a:noFill/>
          <a:ln w="12700">
            <a:solidFill>
              <a:srgbClr val="FF9D32">
                <a:alpha val="8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2064" y="34747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BD8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ЛАБОРАТОРИЯ ИИ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023360" y="329184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FA7F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ГЛАВА 3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235440" y="347472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D3A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25–31 МИН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1109960" y="320040"/>
            <a:ext cx="502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16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76656" y="621792"/>
            <a:ext cx="10835640" cy="585216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50800" dir="2700000">
              <a:srgbClr val="B64CFF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ln w="15240">
                  <a:solidFill>
                    <a:srgbClr val="A54AD4"/>
                  </a:solidFill>
                </a:ln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ПЕРЕВОДЧИК ЭМОЦИЙ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1051560" y="1170432"/>
            <a:ext cx="10104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DCC6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От обвинения — к понятной просьбе</a:t>
            </a:r>
            <a:endParaRPr lang="en-US" sz="1250" dirty="0"/>
          </a:p>
        </p:txBody>
      </p:sp>
      <p:pic>
        <p:nvPicPr>
          <p:cNvPr id="15" name="Image 0" descr="/tmp/lesson18_assets/fo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8708" y="1325880"/>
            <a:ext cx="2759719" cy="5193792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3858768" y="1664208"/>
            <a:ext cx="3703320" cy="932688"/>
          </a:xfrm>
          <a:prstGeom prst="roundRect">
            <a:avLst>
              <a:gd name="adj" fmla="val 7843"/>
            </a:avLst>
          </a:prstGeom>
          <a:solidFill>
            <a:srgbClr val="2B153E"/>
          </a:solidFill>
          <a:ln w="12700">
            <a:solidFill>
              <a:srgbClr val="F06666">
                <a:alpha val="78000"/>
              </a:srgbClr>
            </a:solidFill>
            <a:prstDash val="solid"/>
          </a:ln>
          <a:effectLst>
            <a:outerShdw sx="100000" sy="100000" kx="0" ky="0" algn="bl" rotWithShape="0" blurRad="2.440126393660934e+201" dist="4.880252787321868e+201" dir="6.062109580985733e+235">
              <a:srgbClr val="6D34AC">
                <a:alpha val="1.1999999999999992e+244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023360" y="1810512"/>
            <a:ext cx="109728" cy="640080"/>
          </a:xfrm>
          <a:prstGeom prst="roundRect">
            <a:avLst>
              <a:gd name="adj" fmla="val 33333"/>
            </a:avLst>
          </a:prstGeom>
          <a:solidFill>
            <a:srgbClr val="F0666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297680" y="1801368"/>
            <a:ext cx="3081528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«ТЫ ВСЁ ИСПОРТИЛ!»</a:t>
            </a:r>
            <a:endParaRPr lang="en-US" sz="2100" dirty="0"/>
          </a:p>
        </p:txBody>
      </p:sp>
      <p:sp>
        <p:nvSpPr>
          <p:cNvPr id="19" name="Shape 16"/>
          <p:cNvSpPr/>
          <p:nvPr/>
        </p:nvSpPr>
        <p:spPr>
          <a:xfrm>
            <a:off x="7754112" y="1856232"/>
            <a:ext cx="914400" cy="530352"/>
          </a:xfrm>
          <a:prstGeom prst="chevron">
            <a:avLst/>
          </a:prstGeom>
          <a:solidFill>
            <a:srgbClr val="FF7A00"/>
          </a:solidFill>
          <a:ln w="12700">
            <a:solidFill>
              <a:srgbClr val="333333">
                <a:alpha val="0"/>
              </a:srgbClr>
            </a:solidFill>
            <a:prstDash val="solid"/>
          </a:ln>
          <a:effectLst>
            <a:outerShdw sx="100000" sy="100000" kx="0" ky="0" algn="bl" rotWithShape="0" blurRad="1.2587618744067e+25" dist="1.6783491658756e+25" dir="2.09952e+30">
              <a:srgbClr val="4A1A70">
                <a:alpha val="1.8e+29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919472" y="3063240"/>
            <a:ext cx="6108192" cy="1417320"/>
          </a:xfrm>
          <a:prstGeom prst="roundRect">
            <a:avLst>
              <a:gd name="adj" fmla="val 5161"/>
            </a:avLst>
          </a:prstGeom>
          <a:solidFill>
            <a:srgbClr val="2B153E"/>
          </a:solidFill>
          <a:ln w="12700">
            <a:solidFill>
              <a:srgbClr val="36C98F">
                <a:alpha val="78000"/>
              </a:srgbClr>
            </a:solidFill>
            <a:prstDash val="solid"/>
          </a:ln>
          <a:effectLst>
            <a:outerShdw sx="100000" sy="100000" kx="0" ky="0" algn="bl" rotWithShape="0" blurRad="3.0989605199493864e+205" dist="6.197921039898773e+205" dir="3.63726574859144e+240">
              <a:srgbClr val="6D34AC">
                <a:alpha val="1.1999999999999991e+249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5084064" y="3209544"/>
            <a:ext cx="109728" cy="1124712"/>
          </a:xfrm>
          <a:prstGeom prst="roundRect">
            <a:avLst>
              <a:gd name="adj" fmla="val 33333"/>
            </a:avLst>
          </a:prstGeom>
          <a:solidFill>
            <a:srgbClr val="36C98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358384" y="3200400"/>
            <a:ext cx="5486400" cy="1143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«Когда меня перебивают, я расстраиваюсь.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Дай мне договорить, пожалуйста»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5148072" y="5001768"/>
            <a:ext cx="5440680" cy="384048"/>
          </a:xfrm>
          <a:prstGeom prst="roundRect">
            <a:avLst>
              <a:gd name="adj" fmla="val 28571"/>
            </a:avLst>
          </a:prstGeom>
          <a:solidFill>
            <a:srgbClr val="6D34AC"/>
          </a:solidFill>
          <a:ln w="12700">
            <a:solidFill>
              <a:srgbClr val="6D34AC"/>
            </a:solidFill>
            <a:prstDash val="solid"/>
          </a:ln>
          <a:effectLst>
            <a:outerShdw sx="100000" sy="100000" kx="0" ky="0" algn="bl" rotWithShape="0" blurRad="3.9356798603357206e+209" dist="7.871359720671441e+209" dir="2.182359449154864e+245">
              <a:srgbClr val="6D34AC">
                <a:alpha val="1.1999999999999991e+254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5221224" y="5020056"/>
            <a:ext cx="5294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ЧУВСТВО → СЛОВА → ПРОСЬБА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1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463040"/>
            <a:ext cx="4754880" cy="3749040"/>
          </a:xfrm>
          <a:prstGeom prst="ellipse">
            <a:avLst/>
          </a:prstGeom>
          <a:solidFill>
            <a:srgbClr val="F2DFFF">
              <a:alpha val="8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26880" y="4389120"/>
            <a:ext cx="3749040" cy="2926080"/>
          </a:xfrm>
          <a:prstGeom prst="ellipse">
            <a:avLst/>
          </a:prstGeom>
          <a:solidFill>
            <a:srgbClr val="FFE2C6">
              <a:alpha val="7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6304" y="146304"/>
            <a:ext cx="11896344" cy="6528816"/>
          </a:xfrm>
          <a:prstGeom prst="roundRect">
            <a:avLst>
              <a:gd name="adj" fmla="val 1120"/>
            </a:avLst>
          </a:prstGeom>
          <a:solidFill>
            <a:srgbClr val="FFFFFF">
              <a:alpha val="0"/>
            </a:srgbClr>
          </a:solidFill>
          <a:ln w="12700">
            <a:solidFill>
              <a:srgbClr val="B860E8">
                <a:alpha val="8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310896"/>
            <a:ext cx="2834640" cy="0"/>
          </a:xfrm>
          <a:prstGeom prst="line">
            <a:avLst/>
          </a:prstGeom>
          <a:noFill/>
          <a:ln w="12700">
            <a:solidFill>
              <a:srgbClr val="FF9D32">
                <a:alpha val="88000"/>
              </a:srgbClr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8915400" y="310896"/>
            <a:ext cx="2724912" cy="0"/>
          </a:xfrm>
          <a:prstGeom prst="line">
            <a:avLst/>
          </a:prstGeom>
          <a:noFill/>
          <a:ln w="12700">
            <a:solidFill>
              <a:srgbClr val="9A5BDC">
                <a:alpha val="9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6519672"/>
            <a:ext cx="1828800" cy="0"/>
          </a:xfrm>
          <a:prstGeom prst="line">
            <a:avLst/>
          </a:prstGeom>
          <a:noFill/>
          <a:ln w="12700">
            <a:solidFill>
              <a:srgbClr val="9A5BDC">
                <a:alpha val="8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893808" y="6519672"/>
            <a:ext cx="1737360" cy="0"/>
          </a:xfrm>
          <a:prstGeom prst="line">
            <a:avLst/>
          </a:prstGeom>
          <a:noFill/>
          <a:ln w="12700">
            <a:solidFill>
              <a:srgbClr val="FF9D32">
                <a:alpha val="8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2064" y="34747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D34A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ЛАБОРАТОРИЯ ИИ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023360" y="329184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F6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Я-СООБЩЕНИЕ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235440" y="347472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7A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25–28 МИН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1109960" y="320040"/>
            <a:ext cx="502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D34A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17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76656" y="621792"/>
            <a:ext cx="10835640" cy="585216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50800" dir="2700000">
              <a:srgbClr val="7430A7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ln w="15240">
                  <a:solidFill>
                    <a:srgbClr val="FFFFFF"/>
                  </a:solidFill>
                </a:ln>
                <a:solidFill>
                  <a:srgbClr val="FF7A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ЧТО ПОМОГАЕТ ДОГОВОРИТЬСЯ?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1051560" y="1170432"/>
            <a:ext cx="10104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414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Сравните две реплики в одной ситуации</a:t>
            </a:r>
            <a:endParaRPr lang="en-US" sz="1250" dirty="0"/>
          </a:p>
        </p:txBody>
      </p:sp>
      <p:pic>
        <p:nvPicPr>
          <p:cNvPr id="15" name="Image 0" descr="/workspace/generated_images/exec-3cf5d1cc-db44-4805-a308-cbf0f8f1916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389888"/>
            <a:ext cx="5596128" cy="4480560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594360" y="1389888"/>
            <a:ext cx="5596128" cy="4480560"/>
          </a:xfrm>
          <a:prstGeom prst="roundRect">
            <a:avLst>
              <a:gd name="adj" fmla="val 1633"/>
            </a:avLst>
          </a:prstGeom>
          <a:solidFill>
            <a:srgbClr val="FFFFFF">
              <a:alpha val="0"/>
            </a:srgbClr>
          </a:solidFill>
          <a:ln w="12700">
            <a:solidFill>
              <a:srgbClr val="9A5BDC"/>
            </a:solidFill>
            <a:prstDash val="solid"/>
          </a:ln>
          <a:effectLst>
            <a:outerShdw sx="100000" sy="100000" kx="0" ky="0" algn="bl" rotWithShape="0" blurRad="4.9983134226263654e+213" dist="9.996626845252731e+213" dir="1.3094156694929184e+250">
              <a:srgbClr val="6D34AC">
                <a:alpha val="1.1999999999999991e+259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446520" y="1600200"/>
            <a:ext cx="4983480" cy="1115568"/>
          </a:xfrm>
          <a:prstGeom prst="roundRect">
            <a:avLst>
              <a:gd name="adj" fmla="val 6557"/>
            </a:avLst>
          </a:prstGeom>
          <a:solidFill>
            <a:srgbClr val="FFF3F3"/>
          </a:solidFill>
          <a:ln w="12700">
            <a:solidFill>
              <a:srgbClr val="F06666">
                <a:alpha val="78000"/>
              </a:srgbClr>
            </a:solidFill>
            <a:prstDash val="solid"/>
          </a:ln>
          <a:effectLst>
            <a:outerShdw sx="100000" sy="100000" kx="0" ky="0" algn="bl" rotWithShape="0" blurRad="6.347858046735484e+217" dist="1.2695716093470969e+218" dir="7.85649401695751e+254">
              <a:srgbClr val="6D34AC">
                <a:alpha val="1.199999999999999e+264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611112" y="1746504"/>
            <a:ext cx="109728" cy="822960"/>
          </a:xfrm>
          <a:prstGeom prst="roundRect">
            <a:avLst>
              <a:gd name="adj" fmla="val 33333"/>
            </a:avLst>
          </a:prstGeom>
          <a:solidFill>
            <a:srgbClr val="F0666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885432" y="1737360"/>
            <a:ext cx="4361688" cy="8412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414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«Ты всё испортил!»</a:t>
            </a:r>
            <a:endParaRPr lang="en-US" sz="2400" dirty="0"/>
          </a:p>
        </p:txBody>
      </p:sp>
      <p:sp>
        <p:nvSpPr>
          <p:cNvPr id="20" name="Shape 17"/>
          <p:cNvSpPr/>
          <p:nvPr/>
        </p:nvSpPr>
        <p:spPr>
          <a:xfrm>
            <a:off x="6446520" y="3008376"/>
            <a:ext cx="4983480" cy="1874520"/>
          </a:xfrm>
          <a:prstGeom prst="roundRect">
            <a:avLst>
              <a:gd name="adj" fmla="val 3902"/>
            </a:avLst>
          </a:prstGeom>
          <a:solidFill>
            <a:srgbClr val="F0FFF8"/>
          </a:solidFill>
          <a:ln w="12700">
            <a:solidFill>
              <a:srgbClr val="36C98F">
                <a:alpha val="78000"/>
              </a:srgbClr>
            </a:solidFill>
            <a:prstDash val="solid"/>
          </a:ln>
          <a:effectLst>
            <a:outerShdw sx="100000" sy="100000" kx="0" ky="0" algn="bl" rotWithShape="0" blurRad="8.061779719354066e+221" dist="1.612355943870813e+222" dir="4.713896410174506e+259">
              <a:srgbClr val="6D34AC">
                <a:alpha val="1.1999999999999991e+269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611112" y="3154680"/>
            <a:ext cx="109728" cy="1581912"/>
          </a:xfrm>
          <a:prstGeom prst="roundRect">
            <a:avLst>
              <a:gd name="adj" fmla="val 33333"/>
            </a:avLst>
          </a:prstGeom>
          <a:solidFill>
            <a:srgbClr val="36C98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885432" y="3145536"/>
            <a:ext cx="4361688" cy="1600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414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«Когда меня перебивают, я расстраиваюсь. Дай мне договорить, пожалуйста»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6903720" y="5294376"/>
            <a:ext cx="4069080" cy="384048"/>
          </a:xfrm>
          <a:prstGeom prst="roundRect">
            <a:avLst>
              <a:gd name="adj" fmla="val 28571"/>
            </a:avLst>
          </a:prstGeom>
          <a:solidFill>
            <a:srgbClr val="21113C"/>
          </a:solidFill>
          <a:ln w="12700">
            <a:solidFill>
              <a:srgbClr val="21113C"/>
            </a:solidFill>
            <a:prstDash val="solid"/>
          </a:ln>
          <a:effectLst>
            <a:outerShdw sx="100000" sy="100000" kx="0" ky="0" algn="bl" rotWithShape="0" blurRad="1.0238460243579663e+226" dist="2.0476920487159326e+226" dir="2.8283378461047036e+264">
              <a:srgbClr val="6D34AC">
                <a:alpha val="1.199999999999999e+274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6976872" y="5312664"/>
            <a:ext cx="3922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Какая фраза объясняет и просит?</a:t>
            </a:r>
            <a:endParaRPr lang="en-US" sz="14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1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463040"/>
            <a:ext cx="4754880" cy="3749040"/>
          </a:xfrm>
          <a:prstGeom prst="ellipse">
            <a:avLst/>
          </a:prstGeom>
          <a:solidFill>
            <a:srgbClr val="F2DFFF">
              <a:alpha val="8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26880" y="4389120"/>
            <a:ext cx="3749040" cy="2926080"/>
          </a:xfrm>
          <a:prstGeom prst="ellipse">
            <a:avLst/>
          </a:prstGeom>
          <a:solidFill>
            <a:srgbClr val="FFE2C6">
              <a:alpha val="7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6304" y="146304"/>
            <a:ext cx="11896344" cy="6528816"/>
          </a:xfrm>
          <a:prstGeom prst="roundRect">
            <a:avLst>
              <a:gd name="adj" fmla="val 1120"/>
            </a:avLst>
          </a:prstGeom>
          <a:solidFill>
            <a:srgbClr val="FFFFFF">
              <a:alpha val="0"/>
            </a:srgbClr>
          </a:solidFill>
          <a:ln w="12700">
            <a:solidFill>
              <a:srgbClr val="B860E8">
                <a:alpha val="8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310896"/>
            <a:ext cx="2834640" cy="0"/>
          </a:xfrm>
          <a:prstGeom prst="line">
            <a:avLst/>
          </a:prstGeom>
          <a:noFill/>
          <a:ln w="12700">
            <a:solidFill>
              <a:srgbClr val="FF9D32">
                <a:alpha val="88000"/>
              </a:srgbClr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8915400" y="310896"/>
            <a:ext cx="2724912" cy="0"/>
          </a:xfrm>
          <a:prstGeom prst="line">
            <a:avLst/>
          </a:prstGeom>
          <a:noFill/>
          <a:ln w="12700">
            <a:solidFill>
              <a:srgbClr val="9A5BDC">
                <a:alpha val="9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6519672"/>
            <a:ext cx="1828800" cy="0"/>
          </a:xfrm>
          <a:prstGeom prst="line">
            <a:avLst/>
          </a:prstGeom>
          <a:noFill/>
          <a:ln w="12700">
            <a:solidFill>
              <a:srgbClr val="9A5BDC">
                <a:alpha val="8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893808" y="6519672"/>
            <a:ext cx="1737360" cy="0"/>
          </a:xfrm>
          <a:prstGeom prst="line">
            <a:avLst/>
          </a:prstGeom>
          <a:noFill/>
          <a:ln w="12700">
            <a:solidFill>
              <a:srgbClr val="FF9D32">
                <a:alpha val="8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2064" y="34747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D34A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ЛАБОРАТОРИЯ ИИ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023360" y="329184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F6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Я-СООБЩЕНИЕ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235440" y="347472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7A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25–28 МИН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1109960" y="320040"/>
            <a:ext cx="502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D34A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18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76656" y="621792"/>
            <a:ext cx="10835640" cy="585216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50800" dir="2700000">
              <a:srgbClr val="7430A7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ln w="15240">
                  <a:solidFill>
                    <a:srgbClr val="FFFFFF"/>
                  </a:solidFill>
                </a:ln>
                <a:solidFill>
                  <a:srgbClr val="FF7A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ФОРМУЛА Я-СООБЩЕНИЯ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1051560" y="1170432"/>
            <a:ext cx="10104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414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Три детали, которые соединяются в одну фразу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1892808"/>
            <a:ext cx="3456432" cy="749808"/>
          </a:xfrm>
          <a:prstGeom prst="chevron">
            <a:avLst/>
          </a:prstGeom>
          <a:solidFill>
            <a:srgbClr val="FF7A00">
              <a:alpha val="98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  <a:effectLst>
            <a:outerShdw sx="100000" sy="100000" kx="0" ky="0" algn="bl" rotWithShape="0" blurRad="1.3002844509346172e+230" dist="2.6005689018692344e+230" dir="1.6970027076628222e+269">
              <a:srgbClr val="6D34AC">
                <a:alpha val="1.199999999999999e+279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94944" y="1965960"/>
            <a:ext cx="429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152144" y="1965960"/>
            <a:ext cx="2697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КОГДА [ЧТО ПРОИЗОШЛО]</a:t>
            </a:r>
            <a:endParaRPr lang="en-US" sz="1220" dirty="0"/>
          </a:p>
        </p:txBody>
      </p:sp>
      <p:sp>
        <p:nvSpPr>
          <p:cNvPr id="18" name="Shape 16"/>
          <p:cNvSpPr/>
          <p:nvPr/>
        </p:nvSpPr>
        <p:spPr>
          <a:xfrm>
            <a:off x="4361688" y="1892808"/>
            <a:ext cx="3456432" cy="749808"/>
          </a:xfrm>
          <a:prstGeom prst="chevron">
            <a:avLst/>
          </a:prstGeom>
          <a:solidFill>
            <a:srgbClr val="6D34AC">
              <a:alpha val="98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  <a:effectLst>
            <a:outerShdw sx="100000" sy="100000" kx="0" ky="0" algn="bl" rotWithShape="0" blurRad="1.6513612526869638e+234" dist="3.3027225053739275e+234" dir="1.0182016245976934e+274">
              <a:srgbClr val="6D34AC">
                <a:alpha val="1.199999999999999e+284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416552" y="1965960"/>
            <a:ext cx="429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873752" y="1965960"/>
            <a:ext cx="2697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Я ЧУВСТВУЮ [ЭМОЦИЯ]</a:t>
            </a:r>
            <a:endParaRPr lang="en-US" sz="1220" dirty="0"/>
          </a:p>
        </p:txBody>
      </p:sp>
      <p:sp>
        <p:nvSpPr>
          <p:cNvPr id="21" name="Shape 19"/>
          <p:cNvSpPr/>
          <p:nvPr/>
        </p:nvSpPr>
        <p:spPr>
          <a:xfrm>
            <a:off x="8083296" y="1892808"/>
            <a:ext cx="3456432" cy="749808"/>
          </a:xfrm>
          <a:prstGeom prst="chevron">
            <a:avLst/>
          </a:prstGeom>
          <a:solidFill>
            <a:srgbClr val="6384C8">
              <a:alpha val="98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  <a:effectLst>
            <a:outerShdw sx="100000" sy="100000" kx="0" ky="0" algn="bl" rotWithShape="0" blurRad="2.097228790912444e+238" dist="4.194457581824888e+238" dir="6.10920974758616e+278">
              <a:srgbClr val="6D34AC">
                <a:alpha val="1.199999999999999e+289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138160" y="1965960"/>
            <a:ext cx="429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595360" y="1965960"/>
            <a:ext cx="2697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ПОЖАЛУЙСТА, [ПРОСЬБА]</a:t>
            </a:r>
            <a:endParaRPr lang="en-US" sz="1220" dirty="0"/>
          </a:p>
        </p:txBody>
      </p:sp>
      <p:sp>
        <p:nvSpPr>
          <p:cNvPr id="24" name="Shape 22"/>
          <p:cNvSpPr/>
          <p:nvPr/>
        </p:nvSpPr>
        <p:spPr>
          <a:xfrm>
            <a:off x="1554480" y="3310128"/>
            <a:ext cx="9089136" cy="1700784"/>
          </a:xfrm>
          <a:prstGeom prst="roundRect">
            <a:avLst>
              <a:gd name="adj" fmla="val 4301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9A5BDC">
                <a:alpha val="78000"/>
              </a:srgbClr>
            </a:solidFill>
            <a:prstDash val="solid"/>
          </a:ln>
          <a:effectLst>
            <a:outerShdw sx="100000" sy="100000" kx="0" ky="0" algn="bl" rotWithShape="0" blurRad="2.663480564458804e+242" dist="5.326961128917608e+242" dir="3.6655258485516963e+283">
              <a:srgbClr val="6D34AC">
                <a:alpha val="1.199999999999999e+294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1920240" y="3685032"/>
            <a:ext cx="83393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2414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Когда меня перебивают,  я расстраиваюсь.</a:t>
            </a:r>
            <a:endParaRPr lang="en-US" sz="2300" dirty="0"/>
          </a:p>
          <a:p>
            <a:pPr algn="ctr" indent="0" marL="0">
              <a:buNone/>
            </a:pPr>
            <a:r>
              <a:rPr lang="en-US" sz="2300" b="1" dirty="0">
                <a:solidFill>
                  <a:srgbClr val="2414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Пожалуйста, дай мне закончить.</a:t>
            </a:r>
            <a:endParaRPr lang="en-US" sz="2300" dirty="0"/>
          </a:p>
        </p:txBody>
      </p:sp>
      <p:sp>
        <p:nvSpPr>
          <p:cNvPr id="26" name="Shape 24"/>
          <p:cNvSpPr/>
          <p:nvPr/>
        </p:nvSpPr>
        <p:spPr>
          <a:xfrm>
            <a:off x="3794760" y="5440680"/>
            <a:ext cx="4590288" cy="384048"/>
          </a:xfrm>
          <a:prstGeom prst="roundRect">
            <a:avLst>
              <a:gd name="adj" fmla="val 28571"/>
            </a:avLst>
          </a:prstGeom>
          <a:solidFill>
            <a:srgbClr val="21113C"/>
          </a:solidFill>
          <a:ln w="12700">
            <a:solidFill>
              <a:srgbClr val="21113C"/>
            </a:solidFill>
            <a:prstDash val="solid"/>
          </a:ln>
          <a:effectLst>
            <a:outerShdw sx="100000" sy="100000" kx="0" ky="0" algn="bl" rotWithShape="0" blurRad="3.3826203168626813e+246" dist="6.765240633725363e+246" dir="2.1993155091310177e+288">
              <a:srgbClr val="6D34AC">
                <a:alpha val="1.199999999999999e+299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867912" y="5458968"/>
            <a:ext cx="44439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 себе — без обвинения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1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463040"/>
            <a:ext cx="4754880" cy="3749040"/>
          </a:xfrm>
          <a:prstGeom prst="ellipse">
            <a:avLst/>
          </a:prstGeom>
          <a:solidFill>
            <a:srgbClr val="F2DFFF">
              <a:alpha val="8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26880" y="4389120"/>
            <a:ext cx="3749040" cy="2926080"/>
          </a:xfrm>
          <a:prstGeom prst="ellipse">
            <a:avLst/>
          </a:prstGeom>
          <a:solidFill>
            <a:srgbClr val="FFE2C6">
              <a:alpha val="7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6304" y="146304"/>
            <a:ext cx="11896344" cy="6528816"/>
          </a:xfrm>
          <a:prstGeom prst="roundRect">
            <a:avLst>
              <a:gd name="adj" fmla="val 1120"/>
            </a:avLst>
          </a:prstGeom>
          <a:solidFill>
            <a:srgbClr val="FFFFFF">
              <a:alpha val="0"/>
            </a:srgbClr>
          </a:solidFill>
          <a:ln w="12700">
            <a:solidFill>
              <a:srgbClr val="B860E8">
                <a:alpha val="8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310896"/>
            <a:ext cx="2834640" cy="0"/>
          </a:xfrm>
          <a:prstGeom prst="line">
            <a:avLst/>
          </a:prstGeom>
          <a:noFill/>
          <a:ln w="12700">
            <a:solidFill>
              <a:srgbClr val="FF9D32">
                <a:alpha val="88000"/>
              </a:srgbClr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8915400" y="310896"/>
            <a:ext cx="2724912" cy="0"/>
          </a:xfrm>
          <a:prstGeom prst="line">
            <a:avLst/>
          </a:prstGeom>
          <a:noFill/>
          <a:ln w="12700">
            <a:solidFill>
              <a:srgbClr val="9A5BDC">
                <a:alpha val="9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6519672"/>
            <a:ext cx="1828800" cy="0"/>
          </a:xfrm>
          <a:prstGeom prst="line">
            <a:avLst/>
          </a:prstGeom>
          <a:noFill/>
          <a:ln w="12700">
            <a:solidFill>
              <a:srgbClr val="9A5BDC">
                <a:alpha val="8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893808" y="6519672"/>
            <a:ext cx="1737360" cy="0"/>
          </a:xfrm>
          <a:prstGeom prst="line">
            <a:avLst/>
          </a:prstGeom>
          <a:noFill/>
          <a:ln w="12700">
            <a:solidFill>
              <a:srgbClr val="FF9D32">
                <a:alpha val="8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2064" y="34747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D34A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ЛАБОРАТОРИЯ ИИ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023360" y="329184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F6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Я-СООБЩЕНИЕ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235440" y="347472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7A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28–31 МИН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1109960" y="320040"/>
            <a:ext cx="502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D34A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19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76656" y="621792"/>
            <a:ext cx="10835640" cy="585216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50800" dir="2700000">
              <a:srgbClr val="7430A7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ln w="15240">
                  <a:solidFill>
                    <a:srgbClr val="FFFFFF"/>
                  </a:solidFill>
                </a:ln>
                <a:solidFill>
                  <a:srgbClr val="FF7A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СОБЕРИ РЕПЛИКУ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1051560" y="1170432"/>
            <a:ext cx="10104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414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Вместо: «Ты меня никогда не слушаешь!»</a:t>
            </a:r>
            <a:endParaRPr lang="en-US" sz="1250" dirty="0"/>
          </a:p>
        </p:txBody>
      </p:sp>
      <p:pic>
        <p:nvPicPr>
          <p:cNvPr id="15" name="Image 0" descr="/tmp/lesson18_assets/satell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93" y="1325880"/>
            <a:ext cx="2331574" cy="5102352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3675888" y="1627632"/>
            <a:ext cx="7086600" cy="804672"/>
          </a:xfrm>
          <a:prstGeom prst="roundRect">
            <a:avLst>
              <a:gd name="adj" fmla="val 11364"/>
            </a:avLst>
          </a:prstGeom>
          <a:solidFill>
            <a:srgbClr val="FF7A00"/>
          </a:solidFill>
          <a:ln w="12700">
            <a:solidFill>
              <a:srgbClr val="FFFFFF">
                <a:alpha val="80000"/>
              </a:srgbClr>
            </a:solidFill>
            <a:prstDash val="solid"/>
          </a:ln>
          <a:effectLst>
            <a:outerShdw sx="100000" sy="100000" kx="0" ky="0" algn="bl" rotWithShape="0" blurRad="1.598627580496509e+29" dist="2.1315034406620118e+29" dir="1.259712e+35">
              <a:srgbClr val="4A1A70">
                <a:alpha val="1.7999999999999998e+34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3858768" y="1783080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4480560" y="1773936"/>
            <a:ext cx="5925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Когда меня перебивают…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3675888" y="2816352"/>
            <a:ext cx="7086600" cy="804672"/>
          </a:xfrm>
          <a:prstGeom prst="roundRect">
            <a:avLst>
              <a:gd name="adj" fmla="val 11364"/>
            </a:avLst>
          </a:prstGeom>
          <a:solidFill>
            <a:srgbClr val="6D34AC"/>
          </a:solidFill>
          <a:ln w="12700">
            <a:solidFill>
              <a:srgbClr val="FFFFFF">
                <a:alpha val="80000"/>
              </a:srgbClr>
            </a:solidFill>
            <a:prstDash val="solid"/>
          </a:ln>
          <a:effectLst>
            <a:outerShdw sx="100000" sy="100000" kx="0" ky="0" algn="bl" rotWithShape="0" blurRad="2.0302570272305663e+33" dist="2.707009369640755e+33" dir="7.558272e+39">
              <a:srgbClr val="4A1A70">
                <a:alpha val="1.8e+39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3858768" y="2971800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700" dirty="0"/>
          </a:p>
        </p:txBody>
      </p:sp>
      <p:sp>
        <p:nvSpPr>
          <p:cNvPr id="21" name="Text 18"/>
          <p:cNvSpPr/>
          <p:nvPr/>
        </p:nvSpPr>
        <p:spPr>
          <a:xfrm>
            <a:off x="4480560" y="2962656"/>
            <a:ext cx="5925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я расстраиваюсь.</a:t>
            </a:r>
            <a:endParaRPr lang="en-US" sz="1800" dirty="0"/>
          </a:p>
        </p:txBody>
      </p:sp>
      <p:sp>
        <p:nvSpPr>
          <p:cNvPr id="22" name="Shape 19"/>
          <p:cNvSpPr/>
          <p:nvPr/>
        </p:nvSpPr>
        <p:spPr>
          <a:xfrm>
            <a:off x="3675888" y="4005072"/>
            <a:ext cx="7086600" cy="804672"/>
          </a:xfrm>
          <a:prstGeom prst="roundRect">
            <a:avLst>
              <a:gd name="adj" fmla="val 11364"/>
            </a:avLst>
          </a:prstGeom>
          <a:solidFill>
            <a:srgbClr val="6384C8"/>
          </a:solidFill>
          <a:ln w="12700">
            <a:solidFill>
              <a:srgbClr val="FFFFFF">
                <a:alpha val="80000"/>
              </a:srgbClr>
            </a:solidFill>
            <a:prstDash val="solid"/>
          </a:ln>
          <a:effectLst>
            <a:outerShdw sx="100000" sy="100000" kx="0" ky="0" algn="bl" rotWithShape="0" blurRad="2.578426424582819e+37" dist="3.437901899443759e+37" dir="4.5349632000000006e+44">
              <a:srgbClr val="4A1A70">
                <a:alpha val="1.8e+44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3858768" y="4160520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700" dirty="0"/>
          </a:p>
        </p:txBody>
      </p:sp>
      <p:sp>
        <p:nvSpPr>
          <p:cNvPr id="24" name="Text 21"/>
          <p:cNvSpPr/>
          <p:nvPr/>
        </p:nvSpPr>
        <p:spPr>
          <a:xfrm>
            <a:off x="4480560" y="4151376"/>
            <a:ext cx="5925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Дай мне закончить, пожалуйста.</a:t>
            </a:r>
            <a:endParaRPr lang="en-US" sz="1800" dirty="0"/>
          </a:p>
        </p:txBody>
      </p:sp>
      <p:sp>
        <p:nvSpPr>
          <p:cNvPr id="25" name="Shape 22"/>
          <p:cNvSpPr/>
          <p:nvPr/>
        </p:nvSpPr>
        <p:spPr>
          <a:xfrm>
            <a:off x="4892040" y="5340096"/>
            <a:ext cx="4754880" cy="384048"/>
          </a:xfrm>
          <a:prstGeom prst="roundRect">
            <a:avLst>
              <a:gd name="adj" fmla="val 28571"/>
            </a:avLst>
          </a:prstGeom>
          <a:solidFill>
            <a:srgbClr val="21113C"/>
          </a:solidFill>
          <a:ln w="12700">
            <a:solidFill>
              <a:srgbClr val="21113C"/>
            </a:solidFill>
            <a:prstDash val="solid"/>
          </a:ln>
          <a:effectLst>
            <a:outerShdw sx="100000" sy="100000" kx="0" ky="0" algn="bl" rotWithShape="0" blurRad="4.295927802415605e+250" dist="8.59185560483121e+250" dir="1.3195893054786106e+293">
              <a:srgbClr val="6D34AC">
                <a:alpha val="1.199999999999999e+304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4965192" y="5358384"/>
            <a:ext cx="4608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Теперь придумай свою версию</a:t>
            </a:r>
            <a:endParaRPr lang="en-US" sz="15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2111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1280160"/>
            <a:ext cx="4114800" cy="4114800"/>
          </a:xfrm>
          <a:prstGeom prst="ellipse">
            <a:avLst/>
          </a:prstGeom>
          <a:solidFill>
            <a:srgbClr val="6D34A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84080" y="4480560"/>
            <a:ext cx="3200400" cy="3200400"/>
          </a:xfrm>
          <a:prstGeom prst="ellipse">
            <a:avLst/>
          </a:prstGeom>
          <a:solidFill>
            <a:srgbClr val="FF7A00">
              <a:alpha val="24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6304" y="146304"/>
            <a:ext cx="11896344" cy="6528816"/>
          </a:xfrm>
          <a:prstGeom prst="roundRect">
            <a:avLst>
              <a:gd name="adj" fmla="val 1120"/>
            </a:avLst>
          </a:prstGeom>
          <a:solidFill>
            <a:srgbClr val="21113C">
              <a:alpha val="0"/>
            </a:srgbClr>
          </a:solidFill>
          <a:ln w="12700">
            <a:solidFill>
              <a:srgbClr val="D65CFF">
                <a:alpha val="8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310896"/>
            <a:ext cx="2834640" cy="0"/>
          </a:xfrm>
          <a:prstGeom prst="line">
            <a:avLst/>
          </a:prstGeom>
          <a:noFill/>
          <a:ln w="12700">
            <a:solidFill>
              <a:srgbClr val="FF9D32">
                <a:alpha val="88000"/>
              </a:srgbClr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8915400" y="310896"/>
            <a:ext cx="2724912" cy="0"/>
          </a:xfrm>
          <a:prstGeom prst="line">
            <a:avLst/>
          </a:prstGeom>
          <a:noFill/>
          <a:ln w="12700">
            <a:solidFill>
              <a:srgbClr val="9A5BDC">
                <a:alpha val="9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6519672"/>
            <a:ext cx="1828800" cy="0"/>
          </a:xfrm>
          <a:prstGeom prst="line">
            <a:avLst/>
          </a:prstGeom>
          <a:noFill/>
          <a:ln w="12700">
            <a:solidFill>
              <a:srgbClr val="9A5BDC">
                <a:alpha val="8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893808" y="6519672"/>
            <a:ext cx="1737360" cy="0"/>
          </a:xfrm>
          <a:prstGeom prst="line">
            <a:avLst/>
          </a:prstGeom>
          <a:noFill/>
          <a:ln w="12700">
            <a:solidFill>
              <a:srgbClr val="FF9D32">
                <a:alpha val="8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2064" y="34747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BD8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ЛАБОРАТОРИЯ ИИ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023360" y="329184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FA7F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ГЛАВА 4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235440" y="347472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D3A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31–54 МИН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1109960" y="320040"/>
            <a:ext cx="502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76656" y="621792"/>
            <a:ext cx="10835640" cy="585216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50800" dir="2700000">
              <a:srgbClr val="B64CFF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ln w="15240">
                  <a:solidFill>
                    <a:srgbClr val="A54AD4"/>
                  </a:solidFill>
                </a:ln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ЭМО-ВЫБОР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1051560" y="1170432"/>
            <a:ext cx="10104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DCC6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Виртуальная тренировочная комната</a:t>
            </a:r>
            <a:endParaRPr lang="en-US" sz="1250" dirty="0"/>
          </a:p>
        </p:txBody>
      </p:sp>
      <p:pic>
        <p:nvPicPr>
          <p:cNvPr id="15" name="Image 0" descr="/workspace/generated_images/exec-94e4d243-a1a1-4af8-a19e-be81141a435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" y="1298448"/>
            <a:ext cx="11375136" cy="4919472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6309360" y="1298448"/>
            <a:ext cx="5486400" cy="4919472"/>
          </a:xfrm>
          <a:prstGeom prst="rect">
            <a:avLst/>
          </a:prstGeom>
          <a:solidFill>
            <a:srgbClr val="21113C">
              <a:alpha val="7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629400" y="1901952"/>
            <a:ext cx="4681728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ТРИ ИСТОРИИ.</a:t>
            </a:r>
            <a:endParaRPr lang="en-US" sz="2500" dirty="0"/>
          </a:p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ТРИ РЕШЕНИЯ.</a:t>
            </a:r>
            <a:endParaRPr lang="en-US" sz="2500" dirty="0"/>
          </a:p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ОДИН ОСОЗНАННЫЙ ВЫБОР.</a:t>
            </a:r>
            <a:endParaRPr lang="en-US" sz="2500" dirty="0"/>
          </a:p>
        </p:txBody>
      </p:sp>
      <p:sp>
        <p:nvSpPr>
          <p:cNvPr id="18" name="Shape 15"/>
          <p:cNvSpPr/>
          <p:nvPr/>
        </p:nvSpPr>
        <p:spPr>
          <a:xfrm>
            <a:off x="7013448" y="4434840"/>
            <a:ext cx="3977640" cy="493776"/>
          </a:xfrm>
          <a:prstGeom prst="roundRect">
            <a:avLst>
              <a:gd name="adj" fmla="val 22222"/>
            </a:avLst>
          </a:prstGeom>
          <a:solidFill>
            <a:srgbClr val="FF7A00"/>
          </a:solidFill>
          <a:ln w="12700">
            <a:solidFill>
              <a:srgbClr val="FFBE77"/>
            </a:solidFill>
            <a:prstDash val="solid"/>
          </a:ln>
          <a:effectLst>
            <a:outerShdw sx="100000" sy="100000" kx="0" ky="0" algn="bl" rotWithShape="0" blurRad="3.2746015592201804e+41" dist="4.366135412293574e+41" dir="2.72097792e+49">
              <a:srgbClr val="4A1A70">
                <a:alpha val="1.8e+49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7123176" y="4489704"/>
            <a:ext cx="3758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ОТКРЫТЬ HTML-НОВЕЛЛУ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1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463040"/>
            <a:ext cx="4754880" cy="3749040"/>
          </a:xfrm>
          <a:prstGeom prst="ellipse">
            <a:avLst/>
          </a:prstGeom>
          <a:solidFill>
            <a:srgbClr val="F2DFFF">
              <a:alpha val="8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26880" y="4389120"/>
            <a:ext cx="3749040" cy="2926080"/>
          </a:xfrm>
          <a:prstGeom prst="ellipse">
            <a:avLst/>
          </a:prstGeom>
          <a:solidFill>
            <a:srgbClr val="FFE2C6">
              <a:alpha val="7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6304" y="146304"/>
            <a:ext cx="11896344" cy="6528816"/>
          </a:xfrm>
          <a:prstGeom prst="roundRect">
            <a:avLst>
              <a:gd name="adj" fmla="val 1120"/>
            </a:avLst>
          </a:prstGeom>
          <a:solidFill>
            <a:srgbClr val="FFFFFF">
              <a:alpha val="0"/>
            </a:srgbClr>
          </a:solidFill>
          <a:ln w="12700">
            <a:solidFill>
              <a:srgbClr val="B860E8">
                <a:alpha val="8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310896"/>
            <a:ext cx="2834640" cy="0"/>
          </a:xfrm>
          <a:prstGeom prst="line">
            <a:avLst/>
          </a:prstGeom>
          <a:noFill/>
          <a:ln w="12700">
            <a:solidFill>
              <a:srgbClr val="FF9D32">
                <a:alpha val="88000"/>
              </a:srgbClr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8915400" y="310896"/>
            <a:ext cx="2724912" cy="0"/>
          </a:xfrm>
          <a:prstGeom prst="line">
            <a:avLst/>
          </a:prstGeom>
          <a:noFill/>
          <a:ln w="12700">
            <a:solidFill>
              <a:srgbClr val="9A5BDC">
                <a:alpha val="9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6519672"/>
            <a:ext cx="1828800" cy="0"/>
          </a:xfrm>
          <a:prstGeom prst="line">
            <a:avLst/>
          </a:prstGeom>
          <a:noFill/>
          <a:ln w="12700">
            <a:solidFill>
              <a:srgbClr val="9A5BDC">
                <a:alpha val="8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893808" y="6519672"/>
            <a:ext cx="1737360" cy="0"/>
          </a:xfrm>
          <a:prstGeom prst="line">
            <a:avLst/>
          </a:prstGeom>
          <a:noFill/>
          <a:ln w="12700">
            <a:solidFill>
              <a:srgbClr val="FF9D32">
                <a:alpha val="8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2064" y="34747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D34A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ЛАБОРАТОРИЯ ИИ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023360" y="329184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F6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ЭМО-ВЫБОР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235440" y="347472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7A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31–34 МИН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1109960" y="320040"/>
            <a:ext cx="502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D34A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76656" y="621792"/>
            <a:ext cx="10835640" cy="585216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50800" dir="2700000">
              <a:srgbClr val="7430A7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ln w="15240">
                  <a:solidFill>
                    <a:srgbClr val="FFFFFF"/>
                  </a:solidFill>
                </a:ln>
                <a:solidFill>
                  <a:srgbClr val="FF7A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ПУЛЬТ ЭМОЦИЙ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1051560" y="1170432"/>
            <a:ext cx="10104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414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Нет «запрещённых» чувств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1143000" y="1828800"/>
            <a:ext cx="1024128" cy="1024128"/>
          </a:xfrm>
          <a:prstGeom prst="ellipse">
            <a:avLst/>
          </a:prstGeom>
          <a:solidFill>
            <a:srgbClr val="FFD35A">
              <a:alpha val="96000"/>
            </a:srgbClr>
          </a:solidFill>
          <a:ln w="12700">
            <a:solidFill>
              <a:srgbClr val="FFFFFF">
                <a:alpha val="85000"/>
              </a:srgbClr>
            </a:solidFill>
            <a:prstDash val="solid"/>
          </a:ln>
          <a:effectLst>
            <a:outerShdw sx="100000" sy="100000" kx="0" ky="0" algn="bl" rotWithShape="0" blurRad="4.158743980209629e+45" dist="5.544991973612839e+45" dir="1.6325867520000003e+54">
              <a:srgbClr val="4A1A70">
                <a:alpha val="1.8e+54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252728" y="1975104"/>
            <a:ext cx="804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414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☺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960120" y="2907792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414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РАДОСТЬ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703320" y="1828800"/>
            <a:ext cx="1024128" cy="1024128"/>
          </a:xfrm>
          <a:prstGeom prst="ellipse">
            <a:avLst/>
          </a:prstGeom>
          <a:solidFill>
            <a:srgbClr val="47C9FF">
              <a:alpha val="96000"/>
            </a:srgbClr>
          </a:solidFill>
          <a:ln w="12700">
            <a:solidFill>
              <a:srgbClr val="FFFFFF">
                <a:alpha val="85000"/>
              </a:srgbClr>
            </a:solidFill>
            <a:prstDash val="solid"/>
          </a:ln>
          <a:effectLst>
            <a:outerShdw sx="100000" sy="100000" kx="0" ky="0" algn="bl" rotWithShape="0" blurRad="5.281604854866228e+49" dist="7.042139806488305e+49" dir="9.795520512000002e+58">
              <a:srgbClr val="4A1A70">
                <a:alpha val="1.8000000000000001e+59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813048" y="1975104"/>
            <a:ext cx="804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414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≈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3520440" y="2907792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414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ТРЕВОГА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263640" y="1828800"/>
            <a:ext cx="1024128" cy="1024128"/>
          </a:xfrm>
          <a:prstGeom prst="ellipse">
            <a:avLst/>
          </a:prstGeom>
          <a:solidFill>
            <a:srgbClr val="9A5BDC">
              <a:alpha val="96000"/>
            </a:srgbClr>
          </a:solidFill>
          <a:ln w="12700">
            <a:solidFill>
              <a:srgbClr val="FFFFFF">
                <a:alpha val="85000"/>
              </a:srgbClr>
            </a:solidFill>
            <a:prstDash val="solid"/>
          </a:ln>
          <a:effectLst>
            <a:outerShdw sx="100000" sy="100000" kx="0" ky="0" algn="bl" rotWithShape="0" blurRad="6.70763816568011e+53" dist="8.943517554240149e+53" dir="5.877312307200001e+63">
              <a:srgbClr val="4A1A70">
                <a:alpha val="1.8e+64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373368" y="1975104"/>
            <a:ext cx="804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414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◌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080760" y="2907792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414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СМУЩЕНИЕ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823960" y="1828800"/>
            <a:ext cx="1024128" cy="1024128"/>
          </a:xfrm>
          <a:prstGeom prst="ellipse">
            <a:avLst/>
          </a:prstGeom>
          <a:solidFill>
            <a:srgbClr val="FF7A00">
              <a:alpha val="96000"/>
            </a:srgbClr>
          </a:solidFill>
          <a:ln w="12700">
            <a:solidFill>
              <a:srgbClr val="FFFFFF">
                <a:alpha val="85000"/>
              </a:srgbClr>
            </a:solidFill>
            <a:prstDash val="solid"/>
          </a:ln>
          <a:effectLst>
            <a:outerShdw sx="100000" sy="100000" kx="0" ky="0" algn="bl" rotWithShape="0" blurRad="8.518700470413739e+57" dist="1.1358267293884988e+58" dir="3.526387384320001e+68">
              <a:srgbClr val="4A1A70">
                <a:alpha val="1.8e+69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933688" y="1975104"/>
            <a:ext cx="804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414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!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8641080" y="2907792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414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ЗЛОСТЬ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1051560" y="3675888"/>
            <a:ext cx="10104120" cy="1536192"/>
          </a:xfrm>
          <a:prstGeom prst="roundRect">
            <a:avLst>
              <a:gd name="adj" fmla="val 4762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9A5BDC">
                <a:alpha val="78000"/>
              </a:srgbClr>
            </a:solidFill>
            <a:prstDash val="solid"/>
          </a:ln>
          <a:effectLst>
            <a:outerShdw sx="100000" sy="100000" kx="0" ky="0" algn="bl" rotWithShape="0" blurRad="5.455828309067819e+254" dist="1.0911656618135637e+255" dir="7.917535832871664e+297">
              <a:srgbClr val="6D34AC">
                <a:alpha val="Infinity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1481328" y="4041648"/>
            <a:ext cx="92354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414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Каждая эмоция может подсказать важный сигнал.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2414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Но финальную фразу выбирает человек.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2971800" y="5614416"/>
            <a:ext cx="6236208" cy="384048"/>
          </a:xfrm>
          <a:prstGeom prst="roundRect">
            <a:avLst>
              <a:gd name="adj" fmla="val 28571"/>
            </a:avLst>
          </a:prstGeom>
          <a:solidFill>
            <a:srgbClr val="21113C"/>
          </a:solidFill>
          <a:ln w="12700">
            <a:solidFill>
              <a:srgbClr val="21113C"/>
            </a:solidFill>
            <a:prstDash val="solid"/>
          </a:ln>
          <a:effectLst>
            <a:outerShdw sx="100000" sy="100000" kx="0" ky="0" algn="bl" rotWithShape="0" blurRad="6.928901952516129e+258" dist="1.3857803905032259e+259" dir="4.750521499722998e+302">
              <a:srgbClr val="6D34AC">
                <a:alpha val="Infinity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3044952" y="5632704"/>
            <a:ext cx="6089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Что полезного может подсказать тревога?</a:t>
            </a:r>
            <a:endParaRPr lang="en-US" sz="15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1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463040"/>
            <a:ext cx="4754880" cy="3749040"/>
          </a:xfrm>
          <a:prstGeom prst="ellipse">
            <a:avLst/>
          </a:prstGeom>
          <a:solidFill>
            <a:srgbClr val="F2DFFF">
              <a:alpha val="8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26880" y="4389120"/>
            <a:ext cx="3749040" cy="2926080"/>
          </a:xfrm>
          <a:prstGeom prst="ellipse">
            <a:avLst/>
          </a:prstGeom>
          <a:solidFill>
            <a:srgbClr val="FFE2C6">
              <a:alpha val="7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6304" y="146304"/>
            <a:ext cx="11896344" cy="6528816"/>
          </a:xfrm>
          <a:prstGeom prst="roundRect">
            <a:avLst>
              <a:gd name="adj" fmla="val 1120"/>
            </a:avLst>
          </a:prstGeom>
          <a:solidFill>
            <a:srgbClr val="FFFFFF">
              <a:alpha val="0"/>
            </a:srgbClr>
          </a:solidFill>
          <a:ln w="12700">
            <a:solidFill>
              <a:srgbClr val="B860E8">
                <a:alpha val="8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310896"/>
            <a:ext cx="2834640" cy="0"/>
          </a:xfrm>
          <a:prstGeom prst="line">
            <a:avLst/>
          </a:prstGeom>
          <a:noFill/>
          <a:ln w="12700">
            <a:solidFill>
              <a:srgbClr val="FF9D32">
                <a:alpha val="88000"/>
              </a:srgbClr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8915400" y="310896"/>
            <a:ext cx="2724912" cy="0"/>
          </a:xfrm>
          <a:prstGeom prst="line">
            <a:avLst/>
          </a:prstGeom>
          <a:noFill/>
          <a:ln w="12700">
            <a:solidFill>
              <a:srgbClr val="9A5BDC">
                <a:alpha val="9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6519672"/>
            <a:ext cx="1828800" cy="0"/>
          </a:xfrm>
          <a:prstGeom prst="line">
            <a:avLst/>
          </a:prstGeom>
          <a:noFill/>
          <a:ln w="12700">
            <a:solidFill>
              <a:srgbClr val="9A5BDC">
                <a:alpha val="8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893808" y="6519672"/>
            <a:ext cx="1737360" cy="0"/>
          </a:xfrm>
          <a:prstGeom prst="line">
            <a:avLst/>
          </a:prstGeom>
          <a:noFill/>
          <a:ln w="12700">
            <a:solidFill>
              <a:srgbClr val="FF9D32">
                <a:alpha val="8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2064" y="34747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D34A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ЛАБОРАТОРИЯ ИИ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023360" y="329184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F6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ЭМО-ВЫБОР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235440" y="347472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7A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31–34 МИН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1109960" y="320040"/>
            <a:ext cx="502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D34A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76656" y="621792"/>
            <a:ext cx="10835640" cy="585216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50800" dir="2700000">
              <a:srgbClr val="7430A7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ln w="15240">
                  <a:solidFill>
                    <a:srgbClr val="FFFFFF"/>
                  </a:solidFill>
                </a:ln>
                <a:solidFill>
                  <a:srgbClr val="FF7A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ГЛАВНОЕ ПРАВИЛО ПУЛЬТА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1051560" y="1170432"/>
            <a:ext cx="10104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414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Чувство и действие — не одно и то же</a:t>
            </a:r>
            <a:endParaRPr lang="en-US" sz="1250" dirty="0"/>
          </a:p>
        </p:txBody>
      </p:sp>
      <p:pic>
        <p:nvPicPr>
          <p:cNvPr id="15" name="Image 0" descr="/workspace/generated_images/exec-94e4d243-a1a1-4af8-a19e-be81141a435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" y="1389888"/>
            <a:ext cx="5623560" cy="4480560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6336792" y="1389888"/>
            <a:ext cx="5349240" cy="4480560"/>
          </a:xfrm>
          <a:prstGeom prst="roundRect">
            <a:avLst>
              <a:gd name="adj" fmla="val 1633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FF7A00">
                <a:alpha val="78000"/>
              </a:srgbClr>
            </a:solidFill>
            <a:prstDash val="solid"/>
          </a:ln>
          <a:effectLst>
            <a:outerShdw sx="100000" sy="100000" kx="0" ky="0" algn="bl" rotWithShape="0" blurRad="8.799705479695485e+262" dist="1.759941095939097e+263" dir="2.850312899833799e+307">
              <a:srgbClr val="6D34AC">
                <a:alpha val="Infinity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6748272" y="1856232"/>
            <a:ext cx="4553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6D34A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ЭМОЦИИ</a:t>
            </a:r>
            <a:endParaRPr lang="en-US" sz="1900" dirty="0"/>
          </a:p>
        </p:txBody>
      </p:sp>
      <p:sp>
        <p:nvSpPr>
          <p:cNvPr id="18" name="Shape 15"/>
          <p:cNvSpPr/>
          <p:nvPr/>
        </p:nvSpPr>
        <p:spPr>
          <a:xfrm>
            <a:off x="6976872" y="2441448"/>
            <a:ext cx="4069080" cy="384048"/>
          </a:xfrm>
          <a:prstGeom prst="roundRect">
            <a:avLst>
              <a:gd name="adj" fmla="val 28571"/>
            </a:avLst>
          </a:prstGeom>
          <a:solidFill>
            <a:srgbClr val="6D34AC"/>
          </a:solidFill>
          <a:ln w="12700">
            <a:solidFill>
              <a:srgbClr val="6D34A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050024" y="2459736"/>
            <a:ext cx="3922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ПРЕДЛАГАЮТ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8641080" y="2944368"/>
            <a:ext cx="731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7A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↓</a:t>
            </a:r>
            <a:endParaRPr lang="en-US" sz="2800" dirty="0"/>
          </a:p>
        </p:txBody>
      </p:sp>
      <p:sp>
        <p:nvSpPr>
          <p:cNvPr id="21" name="Text 18"/>
          <p:cNvSpPr/>
          <p:nvPr/>
        </p:nvSpPr>
        <p:spPr>
          <a:xfrm>
            <a:off x="6748272" y="3639312"/>
            <a:ext cx="4553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414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ЧЕЛОВЕК</a:t>
            </a:r>
            <a:endParaRPr lang="en-US" sz="1900" dirty="0"/>
          </a:p>
        </p:txBody>
      </p:sp>
      <p:sp>
        <p:nvSpPr>
          <p:cNvPr id="22" name="Shape 19"/>
          <p:cNvSpPr/>
          <p:nvPr/>
        </p:nvSpPr>
        <p:spPr>
          <a:xfrm>
            <a:off x="6976872" y="4224528"/>
            <a:ext cx="4069080" cy="384048"/>
          </a:xfrm>
          <a:prstGeom prst="roundRect">
            <a:avLst>
              <a:gd name="adj" fmla="val 28571"/>
            </a:avLst>
          </a:prstGeom>
          <a:solidFill>
            <a:srgbClr val="FF7A00"/>
          </a:solidFill>
          <a:ln w="12700">
            <a:solidFill>
              <a:srgbClr val="FF7A0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050024" y="4242816"/>
            <a:ext cx="3922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ВЫБИРАЕТ</a:t>
            </a:r>
            <a:endParaRPr lang="en-US" sz="1800" dirty="0"/>
          </a:p>
        </p:txBody>
      </p:sp>
      <p:sp>
        <p:nvSpPr>
          <p:cNvPr id="24" name="Shape 21"/>
          <p:cNvSpPr/>
          <p:nvPr/>
        </p:nvSpPr>
        <p:spPr>
          <a:xfrm>
            <a:off x="7150608" y="5138928"/>
            <a:ext cx="3712464" cy="384048"/>
          </a:xfrm>
          <a:prstGeom prst="roundRect">
            <a:avLst>
              <a:gd name="adj" fmla="val 28571"/>
            </a:avLst>
          </a:prstGeom>
          <a:solidFill>
            <a:srgbClr val="21113C"/>
          </a:solidFill>
          <a:ln w="12700">
            <a:solidFill>
              <a:srgbClr val="21113C"/>
            </a:solidFill>
            <a:prstDash val="solid"/>
          </a:ln>
          <a:effectLst>
            <a:outerShdw sx="100000" sy="100000" kx="0" ky="0" algn="bl" rotWithShape="0" blurRad="1.1175625959213265e+267" dist="2.235125191842653e+267" dir="Infinity">
              <a:srgbClr val="6D34AC">
                <a:alpha val="Infinity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7223760" y="515721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ЧУВСТВО  ≠  ДЕЙСТВИЕ</a:t>
            </a:r>
            <a:endParaRPr lang="en-US" sz="14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1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463040"/>
            <a:ext cx="4754880" cy="3749040"/>
          </a:xfrm>
          <a:prstGeom prst="ellipse">
            <a:avLst/>
          </a:prstGeom>
          <a:solidFill>
            <a:srgbClr val="F2DFFF">
              <a:alpha val="8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26880" y="4389120"/>
            <a:ext cx="3749040" cy="2926080"/>
          </a:xfrm>
          <a:prstGeom prst="ellipse">
            <a:avLst/>
          </a:prstGeom>
          <a:solidFill>
            <a:srgbClr val="FFE2C6">
              <a:alpha val="7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6304" y="146304"/>
            <a:ext cx="11896344" cy="6528816"/>
          </a:xfrm>
          <a:prstGeom prst="roundRect">
            <a:avLst>
              <a:gd name="adj" fmla="val 1120"/>
            </a:avLst>
          </a:prstGeom>
          <a:solidFill>
            <a:srgbClr val="FFFFFF">
              <a:alpha val="0"/>
            </a:srgbClr>
          </a:solidFill>
          <a:ln w="12700">
            <a:solidFill>
              <a:srgbClr val="B860E8">
                <a:alpha val="8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310896"/>
            <a:ext cx="2834640" cy="0"/>
          </a:xfrm>
          <a:prstGeom prst="line">
            <a:avLst/>
          </a:prstGeom>
          <a:noFill/>
          <a:ln w="12700">
            <a:solidFill>
              <a:srgbClr val="FF9D32">
                <a:alpha val="88000"/>
              </a:srgbClr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8915400" y="310896"/>
            <a:ext cx="2724912" cy="0"/>
          </a:xfrm>
          <a:prstGeom prst="line">
            <a:avLst/>
          </a:prstGeom>
          <a:noFill/>
          <a:ln w="12700">
            <a:solidFill>
              <a:srgbClr val="9A5BDC">
                <a:alpha val="9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6519672"/>
            <a:ext cx="1828800" cy="0"/>
          </a:xfrm>
          <a:prstGeom prst="line">
            <a:avLst/>
          </a:prstGeom>
          <a:noFill/>
          <a:ln w="12700">
            <a:solidFill>
              <a:srgbClr val="9A5BDC">
                <a:alpha val="8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893808" y="6519672"/>
            <a:ext cx="1737360" cy="0"/>
          </a:xfrm>
          <a:prstGeom prst="line">
            <a:avLst/>
          </a:prstGeom>
          <a:noFill/>
          <a:ln w="12700">
            <a:solidFill>
              <a:srgbClr val="FF9D32">
                <a:alpha val="8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2064" y="34747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D34A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ЛАБОРАТОРИЯ ИИ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023360" y="329184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F6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ЭМО-ВЫБОР • ГЛАВА 1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235440" y="347472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7A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34–41 МИН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1109960" y="320040"/>
            <a:ext cx="502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D34A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23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76656" y="621792"/>
            <a:ext cx="10835640" cy="585216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50800" dir="2700000">
              <a:srgbClr val="7430A7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ln w="15240">
                  <a:solidFill>
                    <a:srgbClr val="FFFFFF"/>
                  </a:solidFill>
                </a:ln>
                <a:solidFill>
                  <a:srgbClr val="FF7A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ПЛАКАТ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1051560" y="1170432"/>
            <a:ext cx="10104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414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Факт, возможные чувства и вежливое уточнение</a:t>
            </a:r>
            <a:endParaRPr lang="en-US" sz="1250" dirty="0"/>
          </a:p>
        </p:txBody>
      </p:sp>
      <p:pic>
        <p:nvPicPr>
          <p:cNvPr id="15" name="Image 0" descr="/workspace/generated_images/exec-3cf5d1cc-db44-4805-a308-cbf0f8f1916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353312"/>
            <a:ext cx="6053328" cy="4800600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6821424" y="1353312"/>
            <a:ext cx="4800600" cy="4800600"/>
          </a:xfrm>
          <a:prstGeom prst="roundRect">
            <a:avLst>
              <a:gd name="adj" fmla="val 1524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9A5BDC">
                <a:alpha val="78000"/>
              </a:srgbClr>
            </a:solidFill>
            <a:prstDash val="solid"/>
          </a:ln>
          <a:effectLst>
            <a:outerShdw sx="100000" sy="100000" kx="0" ky="0" algn="bl" rotWithShape="0" blurRad="1.4193044968200846e+271" dist="2.8386089936401693e+271" dir="Infinity">
              <a:srgbClr val="6D34AC">
                <a:alpha val="Infinity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7104888" y="1645920"/>
            <a:ext cx="4233672" cy="1170432"/>
          </a:xfrm>
          <a:prstGeom prst="roundRect">
            <a:avLst>
              <a:gd name="adj" fmla="val 6250"/>
            </a:avLst>
          </a:prstGeom>
          <a:solidFill>
            <a:srgbClr val="FFFFFF">
              <a:alpha val="98000"/>
            </a:srgbClr>
          </a:solidFill>
          <a:ln w="12700">
            <a:solidFill>
              <a:srgbClr val="36C98F">
                <a:alpha val="78000"/>
              </a:srgbClr>
            </a:solidFill>
            <a:prstDash val="solid"/>
          </a:ln>
          <a:effectLst>
            <a:outerShdw sx="100000" sy="100000" kx="0" ky="0" algn="bl" rotWithShape="0" blurRad="1.8025167109615074e+275" dist="3.605033421923015e+275" dir="Infinity">
              <a:srgbClr val="6D34AC">
                <a:alpha val="Infinity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7251192" y="1792224"/>
            <a:ext cx="566928" cy="384048"/>
          </a:xfrm>
          <a:prstGeom prst="roundRect">
            <a:avLst>
              <a:gd name="adj" fmla="val 28571"/>
            </a:avLst>
          </a:prstGeom>
          <a:solidFill>
            <a:srgbClr val="36C98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251192" y="176479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✓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7909560" y="1783080"/>
            <a:ext cx="32461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414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ФАКТ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7306056" y="2304288"/>
            <a:ext cx="3831336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414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Лена начала заголовок.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7104888" y="2953512"/>
            <a:ext cx="4233672" cy="1170432"/>
          </a:xfrm>
          <a:prstGeom prst="roundRect">
            <a:avLst>
              <a:gd name="adj" fmla="val 6250"/>
            </a:avLst>
          </a:prstGeom>
          <a:solidFill>
            <a:srgbClr val="FFFFFF">
              <a:alpha val="98000"/>
            </a:srgbClr>
          </a:solidFill>
          <a:ln w="12700">
            <a:solidFill>
              <a:srgbClr val="FF7A00">
                <a:alpha val="78000"/>
              </a:srgbClr>
            </a:solidFill>
            <a:prstDash val="solid"/>
          </a:ln>
          <a:effectLst>
            <a:outerShdw sx="100000" sy="100000" kx="0" ky="0" algn="bl" rotWithShape="0" blurRad="2.2891962229211143e+279" dist="4.578392445842229e+279" dir="Infinity">
              <a:srgbClr val="6D34AC">
                <a:alpha val="Infinity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7251192" y="3099816"/>
            <a:ext cx="566928" cy="384048"/>
          </a:xfrm>
          <a:prstGeom prst="roundRect">
            <a:avLst>
              <a:gd name="adj" fmla="val 28571"/>
            </a:avLst>
          </a:prstGeom>
          <a:solidFill>
            <a:srgbClr val="FF7A0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251192" y="3072384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?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7909560" y="3090672"/>
            <a:ext cx="32461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414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ДОГАДКА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7306056" y="3611880"/>
            <a:ext cx="3831336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414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Она хотела обидеть Нику?</a:t>
            </a:r>
            <a:endParaRPr lang="en-US" sz="1500" dirty="0"/>
          </a:p>
        </p:txBody>
      </p:sp>
      <p:sp>
        <p:nvSpPr>
          <p:cNvPr id="27" name="Shape 24"/>
          <p:cNvSpPr/>
          <p:nvPr/>
        </p:nvSpPr>
        <p:spPr>
          <a:xfrm>
            <a:off x="7104888" y="4261104"/>
            <a:ext cx="4233672" cy="1170432"/>
          </a:xfrm>
          <a:prstGeom prst="roundRect">
            <a:avLst>
              <a:gd name="adj" fmla="val 6250"/>
            </a:avLst>
          </a:prstGeom>
          <a:solidFill>
            <a:srgbClr val="FFFFFF">
              <a:alpha val="98000"/>
            </a:srgbClr>
          </a:solidFill>
          <a:ln w="12700">
            <a:solidFill>
              <a:srgbClr val="6D34AC">
                <a:alpha val="78000"/>
              </a:srgbClr>
            </a:solidFill>
            <a:prstDash val="solid"/>
          </a:ln>
          <a:effectLst>
            <a:outerShdw sx="100000" sy="100000" kx="0" ky="0" algn="bl" rotWithShape="0" blurRad="2.9072792031098153e+283" dist="5.8145584062196306e+283" dir="Infinity">
              <a:srgbClr val="6D34AC">
                <a:alpha val="Infinity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7251192" y="4407408"/>
            <a:ext cx="566928" cy="384048"/>
          </a:xfrm>
          <a:prstGeom prst="roundRect">
            <a:avLst>
              <a:gd name="adj" fmla="val 28571"/>
            </a:avLst>
          </a:prstGeom>
          <a:solidFill>
            <a:srgbClr val="6D34A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251192" y="4379976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</a:t>
            </a:r>
            <a:endParaRPr lang="en-US" sz="1800" dirty="0"/>
          </a:p>
        </p:txBody>
      </p:sp>
      <p:sp>
        <p:nvSpPr>
          <p:cNvPr id="30" name="Text 27"/>
          <p:cNvSpPr/>
          <p:nvPr/>
        </p:nvSpPr>
        <p:spPr>
          <a:xfrm>
            <a:off x="7909560" y="4398264"/>
            <a:ext cx="32461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414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ЛУЧШИЙ ХОД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7306056" y="4919472"/>
            <a:ext cx="3831336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414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Вежливо уточнить.</a:t>
            </a:r>
            <a:endParaRPr lang="en-US" sz="1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1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463040"/>
            <a:ext cx="4754880" cy="3749040"/>
          </a:xfrm>
          <a:prstGeom prst="ellipse">
            <a:avLst/>
          </a:prstGeom>
          <a:solidFill>
            <a:srgbClr val="F2DFFF">
              <a:alpha val="8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26880" y="4389120"/>
            <a:ext cx="3749040" cy="2926080"/>
          </a:xfrm>
          <a:prstGeom prst="ellipse">
            <a:avLst/>
          </a:prstGeom>
          <a:solidFill>
            <a:srgbClr val="FFE2C6">
              <a:alpha val="7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6304" y="146304"/>
            <a:ext cx="11896344" cy="6528816"/>
          </a:xfrm>
          <a:prstGeom prst="roundRect">
            <a:avLst>
              <a:gd name="adj" fmla="val 1120"/>
            </a:avLst>
          </a:prstGeom>
          <a:solidFill>
            <a:srgbClr val="FFFFFF">
              <a:alpha val="0"/>
            </a:srgbClr>
          </a:solidFill>
          <a:ln w="12700">
            <a:solidFill>
              <a:srgbClr val="B860E8">
                <a:alpha val="8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310896"/>
            <a:ext cx="2834640" cy="0"/>
          </a:xfrm>
          <a:prstGeom prst="line">
            <a:avLst/>
          </a:prstGeom>
          <a:noFill/>
          <a:ln w="12700">
            <a:solidFill>
              <a:srgbClr val="FF9D32">
                <a:alpha val="88000"/>
              </a:srgbClr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8915400" y="310896"/>
            <a:ext cx="2724912" cy="0"/>
          </a:xfrm>
          <a:prstGeom prst="line">
            <a:avLst/>
          </a:prstGeom>
          <a:noFill/>
          <a:ln w="12700">
            <a:solidFill>
              <a:srgbClr val="9A5BDC">
                <a:alpha val="9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6519672"/>
            <a:ext cx="1828800" cy="0"/>
          </a:xfrm>
          <a:prstGeom prst="line">
            <a:avLst/>
          </a:prstGeom>
          <a:noFill/>
          <a:ln w="12700">
            <a:solidFill>
              <a:srgbClr val="9A5BDC">
                <a:alpha val="8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893808" y="6519672"/>
            <a:ext cx="1737360" cy="0"/>
          </a:xfrm>
          <a:prstGeom prst="line">
            <a:avLst/>
          </a:prstGeom>
          <a:noFill/>
          <a:ln w="12700">
            <a:solidFill>
              <a:srgbClr val="FF9D32">
                <a:alpha val="8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2064" y="34747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D34A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ЛАБОРАТОРИЯ ИИ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023360" y="329184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F6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ЭМО-ВЫБОР • ГЛАВА 2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235440" y="347472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7A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41–47 МИН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1109960" y="320040"/>
            <a:ext cx="502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D34A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24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76656" y="621792"/>
            <a:ext cx="10835640" cy="585216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50800" dir="2700000">
              <a:srgbClr val="7430A7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ln w="15240">
                  <a:solidFill>
                    <a:srgbClr val="FFFFFF"/>
                  </a:solidFill>
                </a:ln>
                <a:solidFill>
                  <a:srgbClr val="FF7A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ИГРА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1051560" y="1170432"/>
            <a:ext cx="10104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414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 переписке не слышно интонации</a:t>
            </a:r>
            <a:endParaRPr lang="en-US" sz="1250" dirty="0"/>
          </a:p>
        </p:txBody>
      </p:sp>
      <p:pic>
        <p:nvPicPr>
          <p:cNvPr id="15" name="Image 0" descr="/tmp/lesson18_assets/fo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5711" y="1444752"/>
            <a:ext cx="2647970" cy="4983480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3401568" y="1490472"/>
            <a:ext cx="4160520" cy="4407408"/>
          </a:xfrm>
          <a:prstGeom prst="roundRect">
            <a:avLst>
              <a:gd name="adj" fmla="val 1758"/>
            </a:avLst>
          </a:prstGeom>
          <a:solidFill>
            <a:srgbClr val="F4ECFB">
              <a:alpha val="96000"/>
            </a:srgbClr>
          </a:solidFill>
          <a:ln w="12700">
            <a:solidFill>
              <a:srgbClr val="6D34AC">
                <a:alpha val="78000"/>
              </a:srgbClr>
            </a:solidFill>
            <a:prstDash val="solid"/>
          </a:ln>
          <a:effectLst>
            <a:outerShdw sx="100000" sy="100000" kx="0" ky="0" algn="bl" rotWithShape="0" blurRad="3.6922445879494656e+287" dist="7.384489175898931e+287" dir="Infinity">
              <a:srgbClr val="6D34AC">
                <a:alpha val="Infinity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3730752" y="1783080"/>
            <a:ext cx="960120" cy="384048"/>
          </a:xfrm>
          <a:prstGeom prst="roundRect">
            <a:avLst>
              <a:gd name="adj" fmla="val 28571"/>
            </a:avLst>
          </a:prstGeom>
          <a:solidFill>
            <a:srgbClr val="6384C8"/>
          </a:solidFill>
          <a:ln w="12700">
            <a:solidFill>
              <a:srgbClr val="6384C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803904" y="1801368"/>
            <a:ext cx="8138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МАКС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3749040" y="2313432"/>
            <a:ext cx="3401568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6384C8">
                <a:alpha val="78000"/>
              </a:srgbClr>
            </a:solidFill>
            <a:prstDash val="solid"/>
          </a:ln>
          <a:effectLst>
            <a:outerShdw sx="100000" sy="100000" kx="0" ky="0" algn="bl" rotWithShape="0" blurRad="4.6891506266958215e+291" dist="9.378301253391643e+291" dir="Infinity">
              <a:srgbClr val="6D34AC">
                <a:alpha val="Infinity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3913632" y="2459736"/>
            <a:ext cx="109728" cy="548640"/>
          </a:xfrm>
          <a:prstGeom prst="roundRect">
            <a:avLst>
              <a:gd name="adj" fmla="val 33333"/>
            </a:avLst>
          </a:prstGeom>
          <a:solidFill>
            <a:srgbClr val="6384C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187952" y="2450592"/>
            <a:ext cx="2779776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414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«Ну ладно…»</a:t>
            </a:r>
            <a:endParaRPr lang="en-US" sz="2200" dirty="0"/>
          </a:p>
        </p:txBody>
      </p:sp>
      <p:sp>
        <p:nvSpPr>
          <p:cNvPr id="22" name="Shape 19"/>
          <p:cNvSpPr/>
          <p:nvPr/>
        </p:nvSpPr>
        <p:spPr>
          <a:xfrm>
            <a:off x="6144768" y="3319272"/>
            <a:ext cx="960120" cy="384048"/>
          </a:xfrm>
          <a:prstGeom prst="roundRect">
            <a:avLst>
              <a:gd name="adj" fmla="val 28571"/>
            </a:avLst>
          </a:prstGeom>
          <a:solidFill>
            <a:srgbClr val="FF7A00"/>
          </a:solidFill>
          <a:ln w="12700">
            <a:solidFill>
              <a:srgbClr val="FF7A0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217920" y="3337560"/>
            <a:ext cx="8138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АРЧИ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3749040" y="3803904"/>
            <a:ext cx="3401568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FF7A00">
                <a:alpha val="78000"/>
              </a:srgbClr>
            </a:solidFill>
            <a:prstDash val="solid"/>
          </a:ln>
          <a:effectLst>
            <a:outerShdw sx="100000" sy="100000" kx="0" ky="0" algn="bl" rotWithShape="0" blurRad="5.955221295903693e+295" dist="1.1910442591807386e+296" dir="Infinity">
              <a:srgbClr val="6D34AC">
                <a:alpha val="Infinity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3913632" y="3950208"/>
            <a:ext cx="109728" cy="548640"/>
          </a:xfrm>
          <a:prstGeom prst="roundRect">
            <a:avLst>
              <a:gd name="adj" fmla="val 33333"/>
            </a:avLst>
          </a:prstGeom>
          <a:solidFill>
            <a:srgbClr val="FF7A0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187952" y="3941064"/>
            <a:ext cx="2779776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414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«Ты сердишься?»</a:t>
            </a:r>
            <a:endParaRPr lang="en-US" sz="1800" dirty="0"/>
          </a:p>
        </p:txBody>
      </p:sp>
      <p:sp>
        <p:nvSpPr>
          <p:cNvPr id="27" name="Shape 24"/>
          <p:cNvSpPr/>
          <p:nvPr/>
        </p:nvSpPr>
        <p:spPr>
          <a:xfrm>
            <a:off x="7790688" y="1490472"/>
            <a:ext cx="3767328" cy="4407408"/>
          </a:xfrm>
          <a:prstGeom prst="roundRect">
            <a:avLst>
              <a:gd name="adj" fmla="val 1942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FF7A00">
                <a:alpha val="78000"/>
              </a:srgbClr>
            </a:solidFill>
            <a:prstDash val="solid"/>
          </a:ln>
          <a:effectLst>
            <a:outerShdw sx="100000" sy="100000" kx="0" ky="0" algn="bl" rotWithShape="0" blurRad="7.56313104579769e+299" dist="1.512626209159538e+300" dir="Infinity">
              <a:srgbClr val="6D34AC">
                <a:alpha val="Infinity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8138160" y="1901952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2414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Какой вопрос</a:t>
            </a:r>
            <a:endParaRPr lang="en-US" sz="2300" dirty="0"/>
          </a:p>
          <a:p>
            <a:pPr algn="ctr" indent="0" marL="0">
              <a:buNone/>
            </a:pPr>
            <a:r>
              <a:rPr lang="en-US" sz="2300" b="1" dirty="0">
                <a:solidFill>
                  <a:srgbClr val="2414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заменит догадку?</a:t>
            </a:r>
            <a:endParaRPr lang="en-US" sz="2300" dirty="0"/>
          </a:p>
        </p:txBody>
      </p:sp>
      <p:sp>
        <p:nvSpPr>
          <p:cNvPr id="29" name="Shape 26"/>
          <p:cNvSpPr/>
          <p:nvPr/>
        </p:nvSpPr>
        <p:spPr>
          <a:xfrm>
            <a:off x="8119872" y="3246120"/>
            <a:ext cx="3090672" cy="384048"/>
          </a:xfrm>
          <a:prstGeom prst="roundRect">
            <a:avLst>
              <a:gd name="adj" fmla="val 28571"/>
            </a:avLst>
          </a:prstGeom>
          <a:solidFill>
            <a:srgbClr val="36C98F"/>
          </a:solidFill>
          <a:ln w="12700">
            <a:solidFill>
              <a:srgbClr val="36C98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8193024" y="3264408"/>
            <a:ext cx="2944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«Я правильно понял?»</a:t>
            </a:r>
            <a:endParaRPr lang="en-US" sz="1500" dirty="0"/>
          </a:p>
        </p:txBody>
      </p:sp>
      <p:sp>
        <p:nvSpPr>
          <p:cNvPr id="31" name="Shape 28"/>
          <p:cNvSpPr/>
          <p:nvPr/>
        </p:nvSpPr>
        <p:spPr>
          <a:xfrm>
            <a:off x="8119872" y="4041648"/>
            <a:ext cx="3090672" cy="384048"/>
          </a:xfrm>
          <a:prstGeom prst="roundRect">
            <a:avLst>
              <a:gd name="adj" fmla="val 28571"/>
            </a:avLst>
          </a:prstGeom>
          <a:solidFill>
            <a:srgbClr val="6D34AC"/>
          </a:solidFill>
          <a:ln w="12700">
            <a:solidFill>
              <a:srgbClr val="6D34AC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193024" y="4059936"/>
            <a:ext cx="2944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«Что ты имел в виду?»</a:t>
            </a:r>
            <a:endParaRPr lang="en-US" sz="14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5F1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463040"/>
            <a:ext cx="4754880" cy="3749040"/>
          </a:xfrm>
          <a:prstGeom prst="ellipse">
            <a:avLst/>
          </a:prstGeom>
          <a:solidFill>
            <a:srgbClr val="F2DFFF">
              <a:alpha val="8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26880" y="4389120"/>
            <a:ext cx="3749040" cy="2926080"/>
          </a:xfrm>
          <a:prstGeom prst="ellipse">
            <a:avLst/>
          </a:prstGeom>
          <a:solidFill>
            <a:srgbClr val="FFE2C6">
              <a:alpha val="7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6304" y="146304"/>
            <a:ext cx="11896344" cy="6528816"/>
          </a:xfrm>
          <a:prstGeom prst="roundRect">
            <a:avLst>
              <a:gd name="adj" fmla="val 1120"/>
            </a:avLst>
          </a:prstGeom>
          <a:solidFill>
            <a:srgbClr val="FFFFFF">
              <a:alpha val="0"/>
            </a:srgbClr>
          </a:solidFill>
          <a:ln w="12700">
            <a:solidFill>
              <a:srgbClr val="B860E8">
                <a:alpha val="8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310896"/>
            <a:ext cx="2834640" cy="0"/>
          </a:xfrm>
          <a:prstGeom prst="line">
            <a:avLst/>
          </a:prstGeom>
          <a:noFill/>
          <a:ln w="12700">
            <a:solidFill>
              <a:srgbClr val="FF9D32">
                <a:alpha val="88000"/>
              </a:srgbClr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8915400" y="310896"/>
            <a:ext cx="2724912" cy="0"/>
          </a:xfrm>
          <a:prstGeom prst="line">
            <a:avLst/>
          </a:prstGeom>
          <a:noFill/>
          <a:ln w="12700">
            <a:solidFill>
              <a:srgbClr val="9A5BDC">
                <a:alpha val="9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6519672"/>
            <a:ext cx="1828800" cy="0"/>
          </a:xfrm>
          <a:prstGeom prst="line">
            <a:avLst/>
          </a:prstGeom>
          <a:noFill/>
          <a:ln w="12700">
            <a:solidFill>
              <a:srgbClr val="9A5BDC">
                <a:alpha val="8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893808" y="6519672"/>
            <a:ext cx="1737360" cy="0"/>
          </a:xfrm>
          <a:prstGeom prst="line">
            <a:avLst/>
          </a:prstGeom>
          <a:noFill/>
          <a:ln w="12700">
            <a:solidFill>
              <a:srgbClr val="FF9D32">
                <a:alpha val="8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2064" y="34747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D34A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ЛАБОРАТОРИЯ ИИ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023360" y="329184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F6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ЭМО-ВЫБОР • ГЛАВА 3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235440" y="347472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7A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47–54 МИН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1109960" y="320040"/>
            <a:ext cx="502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D34A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25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76656" y="621792"/>
            <a:ext cx="10835640" cy="585216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50800" dir="2700000">
              <a:srgbClr val="7430A7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ln w="15240">
                  <a:solidFill>
                    <a:srgbClr val="FFFFFF"/>
                  </a:solidFill>
                </a:ln>
                <a:solidFill>
                  <a:srgbClr val="FF7A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ВЫСТУПЛЕНИЕ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1051560" y="1170432"/>
            <a:ext cx="10104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414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Просьба повторить может означать помощь</a:t>
            </a:r>
            <a:endParaRPr lang="en-US" sz="1250" dirty="0"/>
          </a:p>
        </p:txBody>
      </p:sp>
      <p:pic>
        <p:nvPicPr>
          <p:cNvPr id="15" name="Image 0" descr="/tmp/lesson18_assets/satell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613" y="1335024"/>
            <a:ext cx="2331574" cy="5102352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3310128" y="1572768"/>
            <a:ext cx="7680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FF7A00">
                <a:alpha val="78000"/>
              </a:srgbClr>
            </a:solidFill>
            <a:prstDash val="solid"/>
          </a:ln>
          <a:effectLst>
            <a:outerShdw sx="100000" sy="100000" kx="0" ky="0" algn="bl" rotWithShape="0" blurRad="9.605176428163068e+303" dist="1.9210352856326135e+304" dir="Infinity">
              <a:srgbClr val="6D34AC">
                <a:alpha val="Infinity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3474720" y="1719072"/>
            <a:ext cx="109728" cy="640080"/>
          </a:xfrm>
          <a:prstGeom prst="roundRect">
            <a:avLst>
              <a:gd name="adj" fmla="val 33333"/>
            </a:avLst>
          </a:prstGeom>
          <a:solidFill>
            <a:srgbClr val="FF7A0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749040" y="1709928"/>
            <a:ext cx="7059168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414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Учитель: «Объясни проект ещё раз»</a:t>
            </a:r>
            <a:endParaRPr lang="en-US" sz="2200" dirty="0"/>
          </a:p>
        </p:txBody>
      </p:sp>
      <p:sp>
        <p:nvSpPr>
          <p:cNvPr id="19" name="Shape 16"/>
          <p:cNvSpPr/>
          <p:nvPr/>
        </p:nvSpPr>
        <p:spPr>
          <a:xfrm>
            <a:off x="3355848" y="2816352"/>
            <a:ext cx="3401568" cy="1874520"/>
          </a:xfrm>
          <a:prstGeom prst="roundRect">
            <a:avLst>
              <a:gd name="adj" fmla="val 3902"/>
            </a:avLst>
          </a:prstGeom>
          <a:solidFill>
            <a:srgbClr val="FFFFFF">
              <a:alpha val="98000"/>
            </a:srgbClr>
          </a:solidFill>
          <a:ln w="12700">
            <a:solidFill>
              <a:srgbClr val="F06666">
                <a:alpha val="78000"/>
              </a:srgbClr>
            </a:solidFill>
            <a:prstDash val="solid"/>
          </a:ln>
          <a:effectLst>
            <a:outerShdw sx="100000" sy="100000" kx="0" ky="0" algn="bl" rotWithShape="0" blurRad="1.2198574063767096e+308" dist="Infinity" dir="Infinity">
              <a:srgbClr val="6D34AC">
                <a:alpha val="Infinity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3502152" y="2962656"/>
            <a:ext cx="566928" cy="384048"/>
          </a:xfrm>
          <a:prstGeom prst="roundRect">
            <a:avLst>
              <a:gd name="adj" fmla="val 28571"/>
            </a:avLst>
          </a:prstGeom>
          <a:solidFill>
            <a:srgbClr val="F0666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502152" y="2935224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?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4160520" y="2953512"/>
            <a:ext cx="241401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414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ДОГАДКА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3557016" y="3474720"/>
            <a:ext cx="2999232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414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«Все решили,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2414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что я ошибся»</a:t>
            </a:r>
            <a:endParaRPr lang="en-US" sz="1700" dirty="0"/>
          </a:p>
        </p:txBody>
      </p:sp>
      <p:sp>
        <p:nvSpPr>
          <p:cNvPr id="24" name="Shape 21"/>
          <p:cNvSpPr/>
          <p:nvPr/>
        </p:nvSpPr>
        <p:spPr>
          <a:xfrm>
            <a:off x="7059168" y="2816352"/>
            <a:ext cx="3913632" cy="1874520"/>
          </a:xfrm>
          <a:prstGeom prst="roundRect">
            <a:avLst>
              <a:gd name="adj" fmla="val 3902"/>
            </a:avLst>
          </a:prstGeom>
          <a:solidFill>
            <a:srgbClr val="FFFFFF">
              <a:alpha val="98000"/>
            </a:srgbClr>
          </a:solidFill>
          <a:ln w="12700">
            <a:solidFill>
              <a:srgbClr val="36C98F">
                <a:alpha val="78000"/>
              </a:srgbClr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6D34AC">
                <a:alpha val="Infinity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7205472" y="2962656"/>
            <a:ext cx="566928" cy="384048"/>
          </a:xfrm>
          <a:prstGeom prst="roundRect">
            <a:avLst>
              <a:gd name="adj" fmla="val 28571"/>
            </a:avLst>
          </a:prstGeom>
          <a:solidFill>
            <a:srgbClr val="36C98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205472" y="2935224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✓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7863840" y="2953512"/>
            <a:ext cx="29260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414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ДРУГАЯ ВЕРСИЯ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7260336" y="3474720"/>
            <a:ext cx="3511296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414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«Мне хотят помочь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2414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объяснить понятнее»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3566160" y="5175504"/>
            <a:ext cx="7150608" cy="384048"/>
          </a:xfrm>
          <a:prstGeom prst="roundRect">
            <a:avLst>
              <a:gd name="adj" fmla="val 28571"/>
            </a:avLst>
          </a:prstGeom>
          <a:solidFill>
            <a:srgbClr val="6D34AC"/>
          </a:solidFill>
          <a:ln w="12700">
            <a:solidFill>
              <a:srgbClr val="6D34AC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6D34AC">
                <a:alpha val="Infinity"/>
              </a:srgbClr>
            </a:outerShdw>
          </a:effectLst>
        </p:spPr>
      </p:sp>
      <p:sp>
        <p:nvSpPr>
          <p:cNvPr id="30" name="Text 27"/>
          <p:cNvSpPr/>
          <p:nvPr/>
        </p:nvSpPr>
        <p:spPr>
          <a:xfrm>
            <a:off x="3639312" y="5193792"/>
            <a:ext cx="7004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«Я волнуюсь. Помогите мне начать, пожалуйста»</a:t>
            </a:r>
            <a:endParaRPr lang="en-US" sz="15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5F1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463040"/>
            <a:ext cx="4754880" cy="3749040"/>
          </a:xfrm>
          <a:prstGeom prst="ellipse">
            <a:avLst/>
          </a:prstGeom>
          <a:solidFill>
            <a:srgbClr val="F2DFFF">
              <a:alpha val="8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26880" y="4389120"/>
            <a:ext cx="3749040" cy="2926080"/>
          </a:xfrm>
          <a:prstGeom prst="ellipse">
            <a:avLst/>
          </a:prstGeom>
          <a:solidFill>
            <a:srgbClr val="FFE2C6">
              <a:alpha val="7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6304" y="146304"/>
            <a:ext cx="11896344" cy="6528816"/>
          </a:xfrm>
          <a:prstGeom prst="roundRect">
            <a:avLst>
              <a:gd name="adj" fmla="val 1120"/>
            </a:avLst>
          </a:prstGeom>
          <a:solidFill>
            <a:srgbClr val="FFFFFF">
              <a:alpha val="0"/>
            </a:srgbClr>
          </a:solidFill>
          <a:ln w="12700">
            <a:solidFill>
              <a:srgbClr val="B860E8">
                <a:alpha val="8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310896"/>
            <a:ext cx="2834640" cy="0"/>
          </a:xfrm>
          <a:prstGeom prst="line">
            <a:avLst/>
          </a:prstGeom>
          <a:noFill/>
          <a:ln w="12700">
            <a:solidFill>
              <a:srgbClr val="FF9D32">
                <a:alpha val="88000"/>
              </a:srgbClr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8915400" y="310896"/>
            <a:ext cx="2724912" cy="0"/>
          </a:xfrm>
          <a:prstGeom prst="line">
            <a:avLst/>
          </a:prstGeom>
          <a:noFill/>
          <a:ln w="12700">
            <a:solidFill>
              <a:srgbClr val="9A5BDC">
                <a:alpha val="9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6519672"/>
            <a:ext cx="1828800" cy="0"/>
          </a:xfrm>
          <a:prstGeom prst="line">
            <a:avLst/>
          </a:prstGeom>
          <a:noFill/>
          <a:ln w="12700">
            <a:solidFill>
              <a:srgbClr val="9A5BDC">
                <a:alpha val="8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893808" y="6519672"/>
            <a:ext cx="1737360" cy="0"/>
          </a:xfrm>
          <a:prstGeom prst="line">
            <a:avLst/>
          </a:prstGeom>
          <a:noFill/>
          <a:ln w="12700">
            <a:solidFill>
              <a:srgbClr val="FF9D32">
                <a:alpha val="8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2064" y="34747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D34A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ЛАБОРАТОРИЯ ИИ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023360" y="329184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F6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ЭМО-ВЫБОР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235440" y="347472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7A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31–54 МИН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1109960" y="320040"/>
            <a:ext cx="502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D34A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26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76656" y="621792"/>
            <a:ext cx="10835640" cy="585216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50800" dir="2700000">
              <a:srgbClr val="7430A7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ln w="15240">
                  <a:solidFill>
                    <a:srgbClr val="FFFFFF"/>
                  </a:solidFill>
                </a:ln>
                <a:solidFill>
                  <a:srgbClr val="FF7A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МАРШРУТ ХОРОШЕГО ОТВЕТА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1051560" y="1170432"/>
            <a:ext cx="10104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414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Три шага для любой неоднозначной ситуации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58368" y="1609344"/>
            <a:ext cx="3447288" cy="3639312"/>
          </a:xfrm>
          <a:prstGeom prst="roundRect">
            <a:avLst>
              <a:gd name="adj" fmla="val 2122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FF7A00">
                <a:alpha val="78000"/>
              </a:srgbClr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6D34AC">
                <a:alpha val="Infinity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837944" y="1874520"/>
            <a:ext cx="1078992" cy="1078992"/>
          </a:xfrm>
          <a:prstGeom prst="ellipse">
            <a:avLst/>
          </a:prstGeom>
          <a:solidFill>
            <a:srgbClr val="FF7A00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.081874959742545e+62" dist="1.4424999463233936e+62" dir="2.1158324305920003e+73">
              <a:srgbClr val="4A1A70">
                <a:alpha val="1.8000000000000002e+74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929384" y="2112264"/>
            <a:ext cx="8961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◉</a:t>
            </a:r>
            <a:endParaRPr lang="en-US" sz="2300" dirty="0"/>
          </a:p>
        </p:txBody>
      </p:sp>
      <p:sp>
        <p:nvSpPr>
          <p:cNvPr id="18" name="Text 16"/>
          <p:cNvSpPr/>
          <p:nvPr/>
        </p:nvSpPr>
        <p:spPr>
          <a:xfrm>
            <a:off x="932688" y="3227832"/>
            <a:ext cx="2898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2414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ЧТО ИЗВЕСТНО?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1024128" y="3986784"/>
            <a:ext cx="2715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6F6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Назови факт или признак.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4443984" y="1609344"/>
            <a:ext cx="3447288" cy="3639312"/>
          </a:xfrm>
          <a:prstGeom prst="roundRect">
            <a:avLst>
              <a:gd name="adj" fmla="val 2122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6D34AC">
                <a:alpha val="78000"/>
              </a:srgbClr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6D34AC">
                <a:alpha val="Infinity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623560" y="1874520"/>
            <a:ext cx="1078992" cy="1078992"/>
          </a:xfrm>
          <a:prstGeom prst="ellipse">
            <a:avLst/>
          </a:prstGeom>
          <a:solidFill>
            <a:srgbClr val="6D34AC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.373981198873032e+66" dist="1.83197493183071e+66" dir="1.2694994583552002e+78">
              <a:srgbClr val="4A1A70">
                <a:alpha val="1.8000000000000003e+79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715000" y="2112264"/>
            <a:ext cx="8961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?</a:t>
            </a:r>
            <a:endParaRPr lang="en-US" sz="2300" dirty="0"/>
          </a:p>
        </p:txBody>
      </p:sp>
      <p:sp>
        <p:nvSpPr>
          <p:cNvPr id="23" name="Text 21"/>
          <p:cNvSpPr/>
          <p:nvPr/>
        </p:nvSpPr>
        <p:spPr>
          <a:xfrm>
            <a:off x="4718304" y="3227832"/>
            <a:ext cx="2898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2414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ЧТО Я ПРЕДПОЛАГАЮ?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4809744" y="3986784"/>
            <a:ext cx="2715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6F6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Предложи минимум две версии.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8229600" y="1609344"/>
            <a:ext cx="3447288" cy="3639312"/>
          </a:xfrm>
          <a:prstGeom prst="roundRect">
            <a:avLst>
              <a:gd name="adj" fmla="val 2122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6384C8">
                <a:alpha val="78000"/>
              </a:srgbClr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6D34AC">
                <a:alpha val="Infinity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9409176" y="1874520"/>
            <a:ext cx="1078992" cy="1078992"/>
          </a:xfrm>
          <a:prstGeom prst="ellipse">
            <a:avLst/>
          </a:prstGeom>
          <a:solidFill>
            <a:srgbClr val="6384C8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.7449561225687507e+70" dist="2.3266081634250016e+70" dir="7.616996750131201e+82">
              <a:srgbClr val="4A1A70">
                <a:alpha val="1.8000000000000004e+84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9500616" y="2112264"/>
            <a:ext cx="8961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…</a:t>
            </a:r>
            <a:endParaRPr lang="en-US" sz="2300" dirty="0"/>
          </a:p>
        </p:txBody>
      </p:sp>
      <p:sp>
        <p:nvSpPr>
          <p:cNvPr id="28" name="Text 26"/>
          <p:cNvSpPr/>
          <p:nvPr/>
        </p:nvSpPr>
        <p:spPr>
          <a:xfrm>
            <a:off x="8503920" y="3227832"/>
            <a:ext cx="2898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2414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ЧТО МОЖНО СКАЗАТЬ?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8595360" y="3986784"/>
            <a:ext cx="2715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6F6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Спроси или попроси.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2807208" y="5641848"/>
            <a:ext cx="6565392" cy="384048"/>
          </a:xfrm>
          <a:prstGeom prst="roundRect">
            <a:avLst>
              <a:gd name="adj" fmla="val 28571"/>
            </a:avLst>
          </a:prstGeom>
          <a:solidFill>
            <a:srgbClr val="21113C"/>
          </a:solidFill>
          <a:ln w="12700">
            <a:solidFill>
              <a:srgbClr val="21113C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6D34AC">
                <a:alpha val="Infinity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2880360" y="5660136"/>
            <a:ext cx="6419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ЗАМЕТЬ → ПРЕДПОЛОЖИ → УТОЧНИ</a:t>
            </a:r>
            <a:endParaRPr lang="en-US" sz="16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5F1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463040"/>
            <a:ext cx="4754880" cy="3749040"/>
          </a:xfrm>
          <a:prstGeom prst="ellipse">
            <a:avLst/>
          </a:prstGeom>
          <a:solidFill>
            <a:srgbClr val="F2DFFF">
              <a:alpha val="8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26880" y="4389120"/>
            <a:ext cx="3749040" cy="2926080"/>
          </a:xfrm>
          <a:prstGeom prst="ellipse">
            <a:avLst/>
          </a:prstGeom>
          <a:solidFill>
            <a:srgbClr val="FFE2C6">
              <a:alpha val="7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6304" y="146304"/>
            <a:ext cx="11896344" cy="6528816"/>
          </a:xfrm>
          <a:prstGeom prst="roundRect">
            <a:avLst>
              <a:gd name="adj" fmla="val 1120"/>
            </a:avLst>
          </a:prstGeom>
          <a:solidFill>
            <a:srgbClr val="FFFFFF">
              <a:alpha val="0"/>
            </a:srgbClr>
          </a:solidFill>
          <a:ln w="12700">
            <a:solidFill>
              <a:srgbClr val="B860E8">
                <a:alpha val="8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310896"/>
            <a:ext cx="2834640" cy="0"/>
          </a:xfrm>
          <a:prstGeom prst="line">
            <a:avLst/>
          </a:prstGeom>
          <a:noFill/>
          <a:ln w="12700">
            <a:solidFill>
              <a:srgbClr val="FF9D32">
                <a:alpha val="88000"/>
              </a:srgbClr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8915400" y="310896"/>
            <a:ext cx="2724912" cy="0"/>
          </a:xfrm>
          <a:prstGeom prst="line">
            <a:avLst/>
          </a:prstGeom>
          <a:noFill/>
          <a:ln w="12700">
            <a:solidFill>
              <a:srgbClr val="9A5BDC">
                <a:alpha val="9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6519672"/>
            <a:ext cx="1828800" cy="0"/>
          </a:xfrm>
          <a:prstGeom prst="line">
            <a:avLst/>
          </a:prstGeom>
          <a:noFill/>
          <a:ln w="12700">
            <a:solidFill>
              <a:srgbClr val="9A5BDC">
                <a:alpha val="8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893808" y="6519672"/>
            <a:ext cx="1737360" cy="0"/>
          </a:xfrm>
          <a:prstGeom prst="line">
            <a:avLst/>
          </a:prstGeom>
          <a:noFill/>
          <a:ln w="12700">
            <a:solidFill>
              <a:srgbClr val="FF9D32">
                <a:alpha val="8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2064" y="34747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D34A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ЛАБОРАТОРИЯ ИИ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023360" y="329184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F6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ТВОРЧЕСКАЯ ФИКСАЦИЯ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235440" y="347472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7A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54–56 МИН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1109960" y="320040"/>
            <a:ext cx="502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D34A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27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76656" y="621792"/>
            <a:ext cx="10835640" cy="585216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50800" dir="2700000">
              <a:srgbClr val="7430A7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ln w="15240">
                  <a:solidFill>
                    <a:srgbClr val="FFFFFF"/>
                  </a:solidFill>
                </a:ln>
                <a:solidFill>
                  <a:srgbClr val="FF7A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МОЙ ЛУЧШИЙ ОТВЕТ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1051560" y="1170432"/>
            <a:ext cx="10104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414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Выбери одну главу и заполни карточку за 2 минуты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49808" y="1481328"/>
            <a:ext cx="10698480" cy="4462272"/>
          </a:xfrm>
          <a:prstGeom prst="roundRect">
            <a:avLst>
              <a:gd name="adj" fmla="val 1639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9A5BDC">
                <a:alpha val="78000"/>
              </a:srgbClr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6D34AC">
                <a:alpha val="Infinity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078992" y="1792224"/>
            <a:ext cx="2468880" cy="384048"/>
          </a:xfrm>
          <a:prstGeom prst="roundRect">
            <a:avLst>
              <a:gd name="adj" fmla="val 28571"/>
            </a:avLst>
          </a:prstGeom>
          <a:solidFill>
            <a:srgbClr val="FF7A00"/>
          </a:solidFill>
          <a:ln w="12700">
            <a:solidFill>
              <a:srgbClr val="FF7A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52144" y="1810512"/>
            <a:ext cx="2322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СЦЕНА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730752" y="1792224"/>
            <a:ext cx="7114032" cy="420624"/>
          </a:xfrm>
          <a:prstGeom prst="roundRect">
            <a:avLst>
              <a:gd name="adj" fmla="val 15217"/>
            </a:avLst>
          </a:prstGeom>
          <a:solidFill>
            <a:srgbClr val="FAF8FD"/>
          </a:solidFill>
          <a:ln w="12700">
            <a:solidFill>
              <a:srgbClr val="FF7A00">
                <a:alpha val="7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913632" y="1865376"/>
            <a:ext cx="67299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29AA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Плакат / Игра / Выступление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1078992" y="2816352"/>
            <a:ext cx="2468880" cy="384048"/>
          </a:xfrm>
          <a:prstGeom prst="roundRect">
            <a:avLst>
              <a:gd name="adj" fmla="val 28571"/>
            </a:avLst>
          </a:prstGeom>
          <a:solidFill>
            <a:srgbClr val="36C98F"/>
          </a:solidFill>
          <a:ln w="12700">
            <a:solidFill>
              <a:srgbClr val="36C98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52144" y="2834640"/>
            <a:ext cx="2322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ЧТО ИЗВЕСТНО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730752" y="2816352"/>
            <a:ext cx="7114032" cy="420624"/>
          </a:xfrm>
          <a:prstGeom prst="roundRect">
            <a:avLst>
              <a:gd name="adj" fmla="val 15217"/>
            </a:avLst>
          </a:prstGeom>
          <a:solidFill>
            <a:srgbClr val="FAF8FD"/>
          </a:solidFill>
          <a:ln w="12700">
            <a:solidFill>
              <a:srgbClr val="36C98F">
                <a:alpha val="7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913632" y="2889504"/>
            <a:ext cx="67299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29AA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Один факт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078992" y="3840480"/>
            <a:ext cx="2468880" cy="384048"/>
          </a:xfrm>
          <a:prstGeom prst="roundRect">
            <a:avLst>
              <a:gd name="adj" fmla="val 28571"/>
            </a:avLst>
          </a:prstGeom>
          <a:solidFill>
            <a:srgbClr val="6D34AC"/>
          </a:solidFill>
          <a:ln w="12700">
            <a:solidFill>
              <a:srgbClr val="6D34A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52144" y="3858768"/>
            <a:ext cx="2322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ВОЗМОЖНОЕ ЧУВСТВО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3730752" y="3840480"/>
            <a:ext cx="7114032" cy="420624"/>
          </a:xfrm>
          <a:prstGeom prst="roundRect">
            <a:avLst>
              <a:gd name="adj" fmla="val 15217"/>
            </a:avLst>
          </a:prstGeom>
          <a:solidFill>
            <a:srgbClr val="FAF8FD"/>
          </a:solidFill>
          <a:ln w="12700">
            <a:solidFill>
              <a:srgbClr val="6D34AC">
                <a:alpha val="7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913632" y="3913632"/>
            <a:ext cx="67299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29AA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Одна версия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1078992" y="4864608"/>
            <a:ext cx="2468880" cy="384048"/>
          </a:xfrm>
          <a:prstGeom prst="roundRect">
            <a:avLst>
              <a:gd name="adj" fmla="val 28571"/>
            </a:avLst>
          </a:prstGeom>
          <a:solidFill>
            <a:srgbClr val="6384C8"/>
          </a:solidFill>
          <a:ln w="12700">
            <a:solidFill>
              <a:srgbClr val="6384C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152144" y="4882896"/>
            <a:ext cx="2322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МОЯ ФРАЗА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3730752" y="4864608"/>
            <a:ext cx="7114032" cy="420624"/>
          </a:xfrm>
          <a:prstGeom prst="roundRect">
            <a:avLst>
              <a:gd name="adj" fmla="val 15217"/>
            </a:avLst>
          </a:prstGeom>
          <a:solidFill>
            <a:srgbClr val="FAF8FD"/>
          </a:solidFill>
          <a:ln w="12700">
            <a:solidFill>
              <a:srgbClr val="6384C8">
                <a:alpha val="7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913632" y="4937760"/>
            <a:ext cx="67299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29AA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Вопрос или просьба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4773168" y="6080760"/>
            <a:ext cx="2633472" cy="384048"/>
          </a:xfrm>
          <a:prstGeom prst="roundRect">
            <a:avLst>
              <a:gd name="adj" fmla="val 28571"/>
            </a:avLst>
          </a:prstGeom>
          <a:solidFill>
            <a:srgbClr val="21113C"/>
          </a:solidFill>
          <a:ln w="12700">
            <a:solidFill>
              <a:srgbClr val="21113C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6D34AC">
                <a:alpha val="Infinity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846320" y="6099048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 МИНУТЫ</a:t>
            </a:r>
            <a:endParaRPr lang="en-US" sz="15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2111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1280160"/>
            <a:ext cx="4114800" cy="4114800"/>
          </a:xfrm>
          <a:prstGeom prst="ellipse">
            <a:avLst/>
          </a:prstGeom>
          <a:solidFill>
            <a:srgbClr val="6D34A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84080" y="4480560"/>
            <a:ext cx="3200400" cy="3200400"/>
          </a:xfrm>
          <a:prstGeom prst="ellipse">
            <a:avLst/>
          </a:prstGeom>
          <a:solidFill>
            <a:srgbClr val="FF7A00">
              <a:alpha val="24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6304" y="146304"/>
            <a:ext cx="11896344" cy="6528816"/>
          </a:xfrm>
          <a:prstGeom prst="roundRect">
            <a:avLst>
              <a:gd name="adj" fmla="val 1120"/>
            </a:avLst>
          </a:prstGeom>
          <a:solidFill>
            <a:srgbClr val="21113C">
              <a:alpha val="0"/>
            </a:srgbClr>
          </a:solidFill>
          <a:ln w="12700">
            <a:solidFill>
              <a:srgbClr val="D65CFF">
                <a:alpha val="8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310896"/>
            <a:ext cx="2834640" cy="0"/>
          </a:xfrm>
          <a:prstGeom prst="line">
            <a:avLst/>
          </a:prstGeom>
          <a:noFill/>
          <a:ln w="12700">
            <a:solidFill>
              <a:srgbClr val="FF9D32">
                <a:alpha val="88000"/>
              </a:srgbClr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8915400" y="310896"/>
            <a:ext cx="2724912" cy="0"/>
          </a:xfrm>
          <a:prstGeom prst="line">
            <a:avLst/>
          </a:prstGeom>
          <a:noFill/>
          <a:ln w="12700">
            <a:solidFill>
              <a:srgbClr val="9A5BDC">
                <a:alpha val="9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6519672"/>
            <a:ext cx="1828800" cy="0"/>
          </a:xfrm>
          <a:prstGeom prst="line">
            <a:avLst/>
          </a:prstGeom>
          <a:noFill/>
          <a:ln w="12700">
            <a:solidFill>
              <a:srgbClr val="9A5BDC">
                <a:alpha val="8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893808" y="6519672"/>
            <a:ext cx="1737360" cy="0"/>
          </a:xfrm>
          <a:prstGeom prst="line">
            <a:avLst/>
          </a:prstGeom>
          <a:noFill/>
          <a:ln w="12700">
            <a:solidFill>
              <a:srgbClr val="FF9D32">
                <a:alpha val="8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2064" y="34747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BD8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ЛАБОРАТОРИЯ ИИ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023360" y="329184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FA7F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ПРЕМИУМ • ЛАБОРАТОРИЯ ДИАЛОГОВ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235440" y="347472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D3A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56–68 МИН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1109960" y="320040"/>
            <a:ext cx="502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28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76656" y="621792"/>
            <a:ext cx="10835640" cy="585216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50800" dir="2700000">
              <a:srgbClr val="B64CFF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ln w="15240">
                  <a:solidFill>
                    <a:srgbClr val="A54AD4"/>
                  </a:solidFill>
                </a:ln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ПОГОВОРИ С АРЧИ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1051560" y="1170432"/>
            <a:ext cx="10104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DCC6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Добрый, немного упрямый робот-лис</a:t>
            </a:r>
            <a:endParaRPr lang="en-US" sz="1250" dirty="0"/>
          </a:p>
        </p:txBody>
      </p:sp>
      <p:pic>
        <p:nvPicPr>
          <p:cNvPr id="15" name="Image 0" descr="/tmp/lesson18_assets/fo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9296" y="1353312"/>
            <a:ext cx="2730567" cy="5138928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4005072" y="1463040"/>
            <a:ext cx="7296912" cy="4553712"/>
          </a:xfrm>
          <a:prstGeom prst="roundRect">
            <a:avLst>
              <a:gd name="adj" fmla="val 1606"/>
            </a:avLst>
          </a:prstGeom>
          <a:solidFill>
            <a:srgbClr val="2A1742">
              <a:alpha val="96000"/>
            </a:srgbClr>
          </a:solidFill>
          <a:ln w="12700">
            <a:solidFill>
              <a:srgbClr val="FF7A00">
                <a:alpha val="78000"/>
              </a:srgbClr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6D34AC">
                <a:alpha val="Infinity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389120" y="1874520"/>
            <a:ext cx="6355080" cy="932688"/>
          </a:xfrm>
          <a:prstGeom prst="roundRect">
            <a:avLst>
              <a:gd name="adj" fmla="val 7843"/>
            </a:avLst>
          </a:prstGeom>
          <a:solidFill>
            <a:srgbClr val="38204F"/>
          </a:solidFill>
          <a:ln w="12700">
            <a:solidFill>
              <a:srgbClr val="FF7A00">
                <a:alpha val="78000"/>
              </a:srgbClr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6D34AC">
                <a:alpha val="Infinity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553712" y="2020824"/>
            <a:ext cx="109728" cy="640080"/>
          </a:xfrm>
          <a:prstGeom prst="roundRect">
            <a:avLst>
              <a:gd name="adj" fmla="val 33333"/>
            </a:avLst>
          </a:prstGeom>
          <a:solidFill>
            <a:srgbClr val="FF7A0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828032" y="2011680"/>
            <a:ext cx="5733288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«Я хочу выбрать музыку сам!»</a:t>
            </a:r>
            <a:endParaRPr lang="en-US" sz="2100" dirty="0"/>
          </a:p>
        </p:txBody>
      </p:sp>
      <p:sp>
        <p:nvSpPr>
          <p:cNvPr id="20" name="Shape 17"/>
          <p:cNvSpPr/>
          <p:nvPr/>
        </p:nvSpPr>
        <p:spPr>
          <a:xfrm>
            <a:off x="4389120" y="3063240"/>
            <a:ext cx="2944368" cy="1755648"/>
          </a:xfrm>
          <a:prstGeom prst="roundRect">
            <a:avLst>
              <a:gd name="adj" fmla="val 4167"/>
            </a:avLst>
          </a:prstGeom>
          <a:solidFill>
            <a:srgbClr val="332049">
              <a:alpha val="98000"/>
            </a:srgbClr>
          </a:solidFill>
          <a:ln w="12700">
            <a:solidFill>
              <a:srgbClr val="47C9FF">
                <a:alpha val="78000"/>
              </a:srgbClr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6D34AC">
                <a:alpha val="Infinity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535424" y="3209544"/>
            <a:ext cx="566928" cy="384048"/>
          </a:xfrm>
          <a:prstGeom prst="roundRect">
            <a:avLst>
              <a:gd name="adj" fmla="val 28571"/>
            </a:avLst>
          </a:prstGeom>
          <a:solidFill>
            <a:srgbClr val="47C9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535424" y="318211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?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5193792" y="3200400"/>
            <a:ext cx="195681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УЗНАЙ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4590288" y="3721608"/>
            <a:ext cx="2542032" cy="9326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Почему Арчи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не согласен?</a:t>
            </a:r>
            <a:endParaRPr lang="en-US" sz="1500" dirty="0"/>
          </a:p>
        </p:txBody>
      </p:sp>
      <p:sp>
        <p:nvSpPr>
          <p:cNvPr id="25" name="Shape 22"/>
          <p:cNvSpPr/>
          <p:nvPr/>
        </p:nvSpPr>
        <p:spPr>
          <a:xfrm>
            <a:off x="7680960" y="3063240"/>
            <a:ext cx="3054096" cy="1755648"/>
          </a:xfrm>
          <a:prstGeom prst="roundRect">
            <a:avLst>
              <a:gd name="adj" fmla="val 4167"/>
            </a:avLst>
          </a:prstGeom>
          <a:solidFill>
            <a:srgbClr val="332049">
              <a:alpha val="98000"/>
            </a:srgbClr>
          </a:solidFill>
          <a:ln w="12700">
            <a:solidFill>
              <a:srgbClr val="FF7A00">
                <a:alpha val="78000"/>
              </a:srgbClr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6D34AC">
                <a:alpha val="Infinity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7827264" y="3209544"/>
            <a:ext cx="566928" cy="384048"/>
          </a:xfrm>
          <a:prstGeom prst="roundRect">
            <a:avLst>
              <a:gd name="adj" fmla="val 28571"/>
            </a:avLst>
          </a:prstGeom>
          <a:solidFill>
            <a:srgbClr val="FF7A0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827264" y="318211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8485632" y="3200400"/>
            <a:ext cx="206654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ПРЕДЛОЖИ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7882128" y="3721608"/>
            <a:ext cx="2651760" cy="9326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Послушать оба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варианта.</a:t>
            </a:r>
            <a:endParaRPr lang="en-US" sz="1500" dirty="0"/>
          </a:p>
        </p:txBody>
      </p:sp>
      <p:sp>
        <p:nvSpPr>
          <p:cNvPr id="30" name="Shape 27"/>
          <p:cNvSpPr/>
          <p:nvPr/>
        </p:nvSpPr>
        <p:spPr>
          <a:xfrm>
            <a:off x="5541264" y="5230368"/>
            <a:ext cx="3712464" cy="493776"/>
          </a:xfrm>
          <a:prstGeom prst="roundRect">
            <a:avLst>
              <a:gd name="adj" fmla="val 22222"/>
            </a:avLst>
          </a:prstGeom>
          <a:solidFill>
            <a:srgbClr val="FF7A00"/>
          </a:solidFill>
          <a:ln w="12700">
            <a:solidFill>
              <a:srgbClr val="FFBE77"/>
            </a:solidFill>
            <a:prstDash val="solid"/>
          </a:ln>
          <a:effectLst>
            <a:outerShdw sx="100000" sy="100000" kx="0" ky="0" algn="bl" rotWithShape="0" blurRad="2.2160942756623134e+74" dist="2.954792367549752e+74" dir="4.57019805007872e+87">
              <a:srgbClr val="4A1A70">
                <a:alpha val="1.8000000000000005e+89"/>
              </a:srgbClr>
            </a:outerShdw>
          </a:effectLst>
        </p:spPr>
      </p:sp>
      <p:sp>
        <p:nvSpPr>
          <p:cNvPr id="31" name="Text 28">
            <a:hlinkClick r:id="rId2" tooltip=""/>
          </p:cNvPr>
          <p:cNvSpPr/>
          <p:nvPr/>
        </p:nvSpPr>
        <p:spPr>
          <a:xfrm>
            <a:off x="5650992" y="5285232"/>
            <a:ext cx="3493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u="sng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ОТКРЫТЬ QWEN</a:t>
            </a:r>
            <a:endParaRPr lang="en-US" sz="1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5F1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463040"/>
            <a:ext cx="4754880" cy="3749040"/>
          </a:xfrm>
          <a:prstGeom prst="ellipse">
            <a:avLst/>
          </a:prstGeom>
          <a:solidFill>
            <a:srgbClr val="F2DFFF">
              <a:alpha val="8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26880" y="4389120"/>
            <a:ext cx="3749040" cy="2926080"/>
          </a:xfrm>
          <a:prstGeom prst="ellipse">
            <a:avLst/>
          </a:prstGeom>
          <a:solidFill>
            <a:srgbClr val="FFE2C6">
              <a:alpha val="7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6304" y="146304"/>
            <a:ext cx="11896344" cy="6528816"/>
          </a:xfrm>
          <a:prstGeom prst="roundRect">
            <a:avLst>
              <a:gd name="adj" fmla="val 1120"/>
            </a:avLst>
          </a:prstGeom>
          <a:solidFill>
            <a:srgbClr val="FFFFFF">
              <a:alpha val="0"/>
            </a:srgbClr>
          </a:solidFill>
          <a:ln w="12700">
            <a:solidFill>
              <a:srgbClr val="B860E8">
                <a:alpha val="8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310896"/>
            <a:ext cx="2834640" cy="0"/>
          </a:xfrm>
          <a:prstGeom prst="line">
            <a:avLst/>
          </a:prstGeom>
          <a:noFill/>
          <a:ln w="12700">
            <a:solidFill>
              <a:srgbClr val="FF9D32">
                <a:alpha val="88000"/>
              </a:srgbClr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8915400" y="310896"/>
            <a:ext cx="2724912" cy="0"/>
          </a:xfrm>
          <a:prstGeom prst="line">
            <a:avLst/>
          </a:prstGeom>
          <a:noFill/>
          <a:ln w="12700">
            <a:solidFill>
              <a:srgbClr val="9A5BDC">
                <a:alpha val="9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6519672"/>
            <a:ext cx="1828800" cy="0"/>
          </a:xfrm>
          <a:prstGeom prst="line">
            <a:avLst/>
          </a:prstGeom>
          <a:noFill/>
          <a:ln w="12700">
            <a:solidFill>
              <a:srgbClr val="9A5BDC">
                <a:alpha val="8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893808" y="6519672"/>
            <a:ext cx="1737360" cy="0"/>
          </a:xfrm>
          <a:prstGeom prst="line">
            <a:avLst/>
          </a:prstGeom>
          <a:noFill/>
          <a:ln w="12700">
            <a:solidFill>
              <a:srgbClr val="FF9D32">
                <a:alpha val="8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2064" y="34747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D34A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ЛАБОРАТОРИЯ ИИ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023360" y="329184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F6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ПРЕМИУМ • ЛАБОРАТОРИЯ ДИАЛОГОВ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235440" y="347472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7A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68–80 МИН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1109960" y="320040"/>
            <a:ext cx="502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D34A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29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76656" y="621792"/>
            <a:ext cx="10835640" cy="585216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50800" dir="2700000">
              <a:srgbClr val="7430A7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ln w="15240">
                  <a:solidFill>
                    <a:srgbClr val="FFFFFF"/>
                  </a:solidFill>
                </a:ln>
                <a:solidFill>
                  <a:srgbClr val="FF7A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СОЗДАЙ ЧЕТВЁРТУЮ ГЛАВУ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1051560" y="1170432"/>
            <a:ext cx="10104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414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Авторы истории — дети; ИИ только предлагает варианты</a:t>
            </a:r>
            <a:endParaRPr lang="en-US" sz="1250" dirty="0"/>
          </a:p>
        </p:txBody>
      </p:sp>
      <p:pic>
        <p:nvPicPr>
          <p:cNvPr id="15" name="Image 0" descr="/tmp/lesson18_assets/ca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0263" y="1389888"/>
            <a:ext cx="2647970" cy="4983480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3182112" y="1536192"/>
            <a:ext cx="7918704" cy="713232"/>
          </a:xfrm>
          <a:prstGeom prst="roundRect">
            <a:avLst>
              <a:gd name="adj" fmla="val 12821"/>
            </a:avLst>
          </a:prstGeom>
          <a:solidFill>
            <a:srgbClr val="FF7A00"/>
          </a:solidFill>
          <a:ln w="127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6D34AC">
                <a:alpha val="Infinity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3383280" y="1645920"/>
            <a:ext cx="493776" cy="49377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456432" y="1746504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7A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133088" y="1700784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СИТУАЦИЯ + ДОГАДКА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3182112" y="2505456"/>
            <a:ext cx="7918704" cy="713232"/>
          </a:xfrm>
          <a:prstGeom prst="roundRect">
            <a:avLst>
              <a:gd name="adj" fmla="val 12821"/>
            </a:avLst>
          </a:prstGeom>
          <a:solidFill>
            <a:srgbClr val="6D34AC"/>
          </a:solidFill>
          <a:ln w="127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6D34AC">
                <a:alpha val="Infinity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3383280" y="2615184"/>
            <a:ext cx="493776" cy="49377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456432" y="2715768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4A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4133088" y="2670048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РЕПЛИКА А / РЕПЛИКА Б</a:t>
            </a:r>
            <a:endParaRPr lang="en-US" sz="1500" dirty="0"/>
          </a:p>
        </p:txBody>
      </p:sp>
      <p:sp>
        <p:nvSpPr>
          <p:cNvPr id="24" name="Shape 21"/>
          <p:cNvSpPr/>
          <p:nvPr/>
        </p:nvSpPr>
        <p:spPr>
          <a:xfrm>
            <a:off x="3182112" y="3474720"/>
            <a:ext cx="7918704" cy="713232"/>
          </a:xfrm>
          <a:prstGeom prst="roundRect">
            <a:avLst>
              <a:gd name="adj" fmla="val 12821"/>
            </a:avLst>
          </a:prstGeom>
          <a:solidFill>
            <a:srgbClr val="6384C8"/>
          </a:solidFill>
          <a:ln w="127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6D34AC">
                <a:alpha val="Infinity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3383280" y="3584448"/>
            <a:ext cx="493776" cy="49377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456432" y="3685032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84C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4133088" y="3639312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ДВА ПРОДОЛЖЕНИЯ</a:t>
            </a:r>
            <a:endParaRPr lang="en-US" sz="1500" dirty="0"/>
          </a:p>
        </p:txBody>
      </p:sp>
      <p:sp>
        <p:nvSpPr>
          <p:cNvPr id="28" name="Shape 25"/>
          <p:cNvSpPr/>
          <p:nvPr/>
        </p:nvSpPr>
        <p:spPr>
          <a:xfrm>
            <a:off x="3182112" y="4443984"/>
            <a:ext cx="7918704" cy="713232"/>
          </a:xfrm>
          <a:prstGeom prst="roundRect">
            <a:avLst>
              <a:gd name="adj" fmla="val 12821"/>
            </a:avLst>
          </a:prstGeom>
          <a:solidFill>
            <a:srgbClr val="36C98F">
              <a:alpha val="97000"/>
            </a:srgbClr>
          </a:solidFill>
          <a:ln w="127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6D34AC">
                <a:alpha val="Infinity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3383280" y="4553712"/>
            <a:ext cx="493776" cy="49377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456432" y="4654296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6C98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4133088" y="4608576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ПРОВЕРКА ПРАВДОПОДОБИЯ</a:t>
            </a:r>
            <a:endParaRPr lang="en-US" sz="1500" dirty="0"/>
          </a:p>
        </p:txBody>
      </p:sp>
      <p:sp>
        <p:nvSpPr>
          <p:cNvPr id="32" name="Shape 29"/>
          <p:cNvSpPr/>
          <p:nvPr/>
        </p:nvSpPr>
        <p:spPr>
          <a:xfrm>
            <a:off x="3675888" y="5559552"/>
            <a:ext cx="6931152" cy="384048"/>
          </a:xfrm>
          <a:prstGeom prst="roundRect">
            <a:avLst>
              <a:gd name="adj" fmla="val 28571"/>
            </a:avLst>
          </a:prstGeom>
          <a:solidFill>
            <a:srgbClr val="21113C"/>
          </a:solidFill>
          <a:ln w="12700">
            <a:solidFill>
              <a:srgbClr val="21113C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6D34AC">
                <a:alpha val="Infinity"/>
              </a:srgbClr>
            </a:outerShdw>
          </a:effectLst>
        </p:spPr>
      </p:sp>
      <p:sp>
        <p:nvSpPr>
          <p:cNvPr id="33" name="Text 30"/>
          <p:cNvSpPr/>
          <p:nvPr/>
        </p:nvSpPr>
        <p:spPr>
          <a:xfrm>
            <a:off x="3749040" y="5577840"/>
            <a:ext cx="67848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Вежливый ответ не гарантирует счастливый финал</a:t>
            </a:r>
            <a:endParaRPr lang="en-US" sz="14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5F1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463040"/>
            <a:ext cx="4754880" cy="3749040"/>
          </a:xfrm>
          <a:prstGeom prst="ellipse">
            <a:avLst/>
          </a:prstGeom>
          <a:solidFill>
            <a:srgbClr val="F2DFFF">
              <a:alpha val="8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26880" y="4389120"/>
            <a:ext cx="3749040" cy="2926080"/>
          </a:xfrm>
          <a:prstGeom prst="ellipse">
            <a:avLst/>
          </a:prstGeom>
          <a:solidFill>
            <a:srgbClr val="FFE2C6">
              <a:alpha val="7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6304" y="146304"/>
            <a:ext cx="11896344" cy="6528816"/>
          </a:xfrm>
          <a:prstGeom prst="roundRect">
            <a:avLst>
              <a:gd name="adj" fmla="val 1120"/>
            </a:avLst>
          </a:prstGeom>
          <a:solidFill>
            <a:srgbClr val="FFFFFF">
              <a:alpha val="0"/>
            </a:srgbClr>
          </a:solidFill>
          <a:ln w="12700">
            <a:solidFill>
              <a:srgbClr val="B860E8">
                <a:alpha val="8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310896"/>
            <a:ext cx="2834640" cy="0"/>
          </a:xfrm>
          <a:prstGeom prst="line">
            <a:avLst/>
          </a:prstGeom>
          <a:noFill/>
          <a:ln w="12700">
            <a:solidFill>
              <a:srgbClr val="FF9D32">
                <a:alpha val="88000"/>
              </a:srgbClr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8915400" y="310896"/>
            <a:ext cx="2724912" cy="0"/>
          </a:xfrm>
          <a:prstGeom prst="line">
            <a:avLst/>
          </a:prstGeom>
          <a:noFill/>
          <a:ln w="12700">
            <a:solidFill>
              <a:srgbClr val="9A5BDC">
                <a:alpha val="9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6519672"/>
            <a:ext cx="1828800" cy="0"/>
          </a:xfrm>
          <a:prstGeom prst="line">
            <a:avLst/>
          </a:prstGeom>
          <a:noFill/>
          <a:ln w="12700">
            <a:solidFill>
              <a:srgbClr val="9A5BDC">
                <a:alpha val="8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893808" y="6519672"/>
            <a:ext cx="1737360" cy="0"/>
          </a:xfrm>
          <a:prstGeom prst="line">
            <a:avLst/>
          </a:prstGeom>
          <a:noFill/>
          <a:ln w="12700">
            <a:solidFill>
              <a:srgbClr val="FF9D32">
                <a:alpha val="8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2064" y="34747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D34A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ЛАБОРАТОРИЯ ИИ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023360" y="329184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F6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ПРЕМИУМ • ЛАБОРАТОРИЯ ДИАЛОГОВ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235440" y="347472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7A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80–86 МИН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1109960" y="320040"/>
            <a:ext cx="502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D34A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30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76656" y="621792"/>
            <a:ext cx="10835640" cy="585216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50800" dir="2700000">
              <a:srgbClr val="7430A7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ln w="15240">
                  <a:solidFill>
                    <a:srgbClr val="FFFFFF"/>
                  </a:solidFill>
                </a:ln>
                <a:solidFill>
                  <a:srgbClr val="FF7A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ПРОВЕРКА СЦЕНАРИСТОВ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1051560" y="1170432"/>
            <a:ext cx="10104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414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Тестируем развилки без готовых ответов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76656" y="1554480"/>
            <a:ext cx="3310128" cy="4178808"/>
          </a:xfrm>
          <a:prstGeom prst="roundRect">
            <a:avLst>
              <a:gd name="adj" fmla="val 2210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FF7A00">
                <a:alpha val="78000"/>
              </a:srgbClr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6D34AC">
                <a:alpha val="Infinity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443984" y="1554480"/>
            <a:ext cx="3310128" cy="4178808"/>
          </a:xfrm>
          <a:prstGeom prst="roundRect">
            <a:avLst>
              <a:gd name="adj" fmla="val 2210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6D34AC">
                <a:alpha val="78000"/>
              </a:srgbClr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6D34AC">
                <a:alpha val="Infinity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211312" y="1554480"/>
            <a:ext cx="3310128" cy="4178808"/>
          </a:xfrm>
          <a:prstGeom prst="roundRect">
            <a:avLst>
              <a:gd name="adj" fmla="val 2210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6384C8">
                <a:alpha val="78000"/>
              </a:srgbClr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6D34AC">
                <a:alpha val="Infinity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1755648" y="1920240"/>
            <a:ext cx="1152144" cy="1152144"/>
          </a:xfrm>
          <a:prstGeom prst="ellipse">
            <a:avLst/>
          </a:prstGeom>
          <a:solidFill>
            <a:srgbClr val="FF7A00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2.814439730091138e+78" dist="3.752586306788185e+78" dir="2.742118830047232e+92">
              <a:srgbClr val="4A1A70">
                <a:alpha val="1.8000000000000007e+94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901952" y="2185416"/>
            <a:ext cx="8595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◉</a:t>
            </a:r>
            <a:endParaRPr lang="en-US" sz="2300" dirty="0"/>
          </a:p>
        </p:txBody>
      </p:sp>
      <p:sp>
        <p:nvSpPr>
          <p:cNvPr id="20" name="Text 18"/>
          <p:cNvSpPr/>
          <p:nvPr/>
        </p:nvSpPr>
        <p:spPr>
          <a:xfrm>
            <a:off x="996696" y="3364992"/>
            <a:ext cx="26700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2414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АВТОР ЧИТАЕТ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1115568" y="4096512"/>
            <a:ext cx="243230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F6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Ситуацию и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6F6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две реплики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522976" y="1920240"/>
            <a:ext cx="1152144" cy="1152144"/>
          </a:xfrm>
          <a:prstGeom prst="ellipse">
            <a:avLst/>
          </a:prstGeom>
          <a:solidFill>
            <a:srgbClr val="6D34AC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3.574338457215745e+82" dist="4.765784609620995e+82" dir="1.6452712980283393e+97">
              <a:srgbClr val="4A1A70">
                <a:alpha val="1.8000000000000008e+99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669280" y="2185416"/>
            <a:ext cx="8595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?</a:t>
            </a:r>
            <a:endParaRPr lang="en-US" sz="2300" dirty="0"/>
          </a:p>
        </p:txBody>
      </p:sp>
      <p:sp>
        <p:nvSpPr>
          <p:cNvPr id="24" name="Text 22"/>
          <p:cNvSpPr/>
          <p:nvPr/>
        </p:nvSpPr>
        <p:spPr>
          <a:xfrm>
            <a:off x="4764024" y="3364992"/>
            <a:ext cx="26700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2414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ГРУППА ВЫБИРАЕТ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4882896" y="4096512"/>
            <a:ext cx="243230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F6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Ответ и возможное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6F6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продолжение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9290304" y="1920240"/>
            <a:ext cx="1152144" cy="1152144"/>
          </a:xfrm>
          <a:prstGeom prst="ellipse">
            <a:avLst/>
          </a:prstGeom>
          <a:solidFill>
            <a:srgbClr val="6384C8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4.539409840663996e+86" dist="6.052546454218663e+86" dir="9.871627788170037e+101">
              <a:srgbClr val="4A1A70">
                <a:alpha val="1.800000000000001e+104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9436608" y="2185416"/>
            <a:ext cx="8595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✓</a:t>
            </a:r>
            <a:endParaRPr lang="en-US" sz="2300" dirty="0"/>
          </a:p>
        </p:txBody>
      </p:sp>
      <p:sp>
        <p:nvSpPr>
          <p:cNvPr id="28" name="Text 26"/>
          <p:cNvSpPr/>
          <p:nvPr/>
        </p:nvSpPr>
        <p:spPr>
          <a:xfrm>
            <a:off x="8531352" y="3364992"/>
            <a:ext cx="26700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2414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СРАВНИВАЕМ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8650224" y="4096512"/>
            <a:ext cx="243230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F6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 замыслом автора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6F6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 улучшаем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355848" y="5943600"/>
            <a:ext cx="5468112" cy="384048"/>
          </a:xfrm>
          <a:prstGeom prst="roundRect">
            <a:avLst>
              <a:gd name="adj" fmla="val 28571"/>
            </a:avLst>
          </a:prstGeom>
          <a:solidFill>
            <a:srgbClr val="21113C"/>
          </a:solidFill>
          <a:ln w="12700">
            <a:solidFill>
              <a:srgbClr val="21113C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6D34AC">
                <a:alpha val="Infinity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3429000" y="5961888"/>
            <a:ext cx="5321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Правдоподобно? Понятно? Есть выбор?</a:t>
            </a:r>
            <a:endParaRPr lang="en-US" sz="15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2111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1280160"/>
            <a:ext cx="4114800" cy="4114800"/>
          </a:xfrm>
          <a:prstGeom prst="ellipse">
            <a:avLst/>
          </a:prstGeom>
          <a:solidFill>
            <a:srgbClr val="6D34A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84080" y="4480560"/>
            <a:ext cx="3200400" cy="3200400"/>
          </a:xfrm>
          <a:prstGeom prst="ellipse">
            <a:avLst/>
          </a:prstGeom>
          <a:solidFill>
            <a:srgbClr val="FF7A00">
              <a:alpha val="24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6304" y="146304"/>
            <a:ext cx="11896344" cy="6528816"/>
          </a:xfrm>
          <a:prstGeom prst="roundRect">
            <a:avLst>
              <a:gd name="adj" fmla="val 1120"/>
            </a:avLst>
          </a:prstGeom>
          <a:solidFill>
            <a:srgbClr val="21113C">
              <a:alpha val="0"/>
            </a:srgbClr>
          </a:solidFill>
          <a:ln w="12700">
            <a:solidFill>
              <a:srgbClr val="D65CFF">
                <a:alpha val="8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310896"/>
            <a:ext cx="2834640" cy="0"/>
          </a:xfrm>
          <a:prstGeom prst="line">
            <a:avLst/>
          </a:prstGeom>
          <a:noFill/>
          <a:ln w="12700">
            <a:solidFill>
              <a:srgbClr val="FF9D32">
                <a:alpha val="88000"/>
              </a:srgbClr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8915400" y="310896"/>
            <a:ext cx="2724912" cy="0"/>
          </a:xfrm>
          <a:prstGeom prst="line">
            <a:avLst/>
          </a:prstGeom>
          <a:noFill/>
          <a:ln w="12700">
            <a:solidFill>
              <a:srgbClr val="9A5BDC">
                <a:alpha val="9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6519672"/>
            <a:ext cx="1828800" cy="0"/>
          </a:xfrm>
          <a:prstGeom prst="line">
            <a:avLst/>
          </a:prstGeom>
          <a:noFill/>
          <a:ln w="12700">
            <a:solidFill>
              <a:srgbClr val="9A5BDC">
                <a:alpha val="8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893808" y="6519672"/>
            <a:ext cx="1737360" cy="0"/>
          </a:xfrm>
          <a:prstGeom prst="line">
            <a:avLst/>
          </a:prstGeom>
          <a:noFill/>
          <a:ln w="12700">
            <a:solidFill>
              <a:srgbClr val="FF9D32">
                <a:alpha val="8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2064" y="34747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BD8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ЛАБОРАТОРИЯ ИИ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023360" y="329184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FA7F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ФИНАЛ И РЕФЛЕКСИЯ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235440" y="347472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D3A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56–60 / 86–90 МИН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1109960" y="320040"/>
            <a:ext cx="502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76656" y="621792"/>
            <a:ext cx="10835640" cy="585216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50800" dir="2700000">
              <a:srgbClr val="B64CFF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ln w="15240">
                  <a:solidFill>
                    <a:srgbClr val="A54AD4"/>
                  </a:solidFill>
                </a:ln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ЭМО-РАДАР ОБНОВЛЁН!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1051560" y="1170432"/>
            <a:ext cx="10104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DCC6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Теперь он не делает вид, что читает мысли</a:t>
            </a:r>
            <a:endParaRPr lang="en-US" sz="1250" dirty="0"/>
          </a:p>
        </p:txBody>
      </p:sp>
      <p:pic>
        <p:nvPicPr>
          <p:cNvPr id="15" name="Image 0" descr="/tmp/lesson18_assets/satell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8517" y="1417320"/>
            <a:ext cx="2289790" cy="5010912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3401568" y="1627632"/>
            <a:ext cx="2468880" cy="3310128"/>
          </a:xfrm>
          <a:prstGeom prst="roundRect">
            <a:avLst>
              <a:gd name="adj" fmla="val 2963"/>
            </a:avLst>
          </a:prstGeom>
          <a:solidFill>
            <a:srgbClr val="2C1843">
              <a:alpha val="98000"/>
            </a:srgbClr>
          </a:solidFill>
          <a:ln w="12700">
            <a:solidFill>
              <a:srgbClr val="FF7A00">
                <a:alpha val="78000"/>
              </a:srgbClr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6D34AC">
                <a:alpha val="Infinity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3547872" y="1773936"/>
            <a:ext cx="566928" cy="384048"/>
          </a:xfrm>
          <a:prstGeom prst="roundRect">
            <a:avLst>
              <a:gd name="adj" fmla="val 28571"/>
            </a:avLst>
          </a:prstGeom>
          <a:solidFill>
            <a:srgbClr val="FF7A0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547872" y="1746504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◉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4206240" y="1764792"/>
            <a:ext cx="148132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ЗАМЕЧАЙ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3602736" y="2286000"/>
            <a:ext cx="2066544" cy="2487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видимые и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слышимые признаки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6089904" y="1627632"/>
            <a:ext cx="2468880" cy="3310128"/>
          </a:xfrm>
          <a:prstGeom prst="roundRect">
            <a:avLst>
              <a:gd name="adj" fmla="val 2963"/>
            </a:avLst>
          </a:prstGeom>
          <a:solidFill>
            <a:srgbClr val="2C1843">
              <a:alpha val="98000"/>
            </a:srgbClr>
          </a:solidFill>
          <a:ln w="12700">
            <a:solidFill>
              <a:srgbClr val="6D34AC">
                <a:alpha val="78000"/>
              </a:srgbClr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6D34AC">
                <a:alpha val="Infinity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6236208" y="1773936"/>
            <a:ext cx="566928" cy="384048"/>
          </a:xfrm>
          <a:prstGeom prst="roundRect">
            <a:avLst>
              <a:gd name="adj" fmla="val 28571"/>
            </a:avLst>
          </a:prstGeom>
          <a:solidFill>
            <a:srgbClr val="6D34A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236208" y="1746504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?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6894576" y="1764792"/>
            <a:ext cx="148132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ПРОВЕРЯЙ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6291072" y="2286000"/>
            <a:ext cx="2066544" cy="2487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контекст и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свои версии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8778240" y="1627632"/>
            <a:ext cx="2468880" cy="3310128"/>
          </a:xfrm>
          <a:prstGeom prst="roundRect">
            <a:avLst>
              <a:gd name="adj" fmla="val 2963"/>
            </a:avLst>
          </a:prstGeom>
          <a:solidFill>
            <a:srgbClr val="2C1843">
              <a:alpha val="98000"/>
            </a:srgbClr>
          </a:solidFill>
          <a:ln w="12700">
            <a:solidFill>
              <a:srgbClr val="6384C8">
                <a:alpha val="78000"/>
              </a:srgbClr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6D34AC">
                <a:alpha val="Infinity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8924544" y="1773936"/>
            <a:ext cx="566928" cy="384048"/>
          </a:xfrm>
          <a:prstGeom prst="roundRect">
            <a:avLst>
              <a:gd name="adj" fmla="val 28571"/>
            </a:avLst>
          </a:prstGeom>
          <a:solidFill>
            <a:srgbClr val="6384C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8924544" y="1746504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…</a:t>
            </a:r>
            <a:endParaRPr lang="en-US" sz="1800" dirty="0"/>
          </a:p>
        </p:txBody>
      </p:sp>
      <p:sp>
        <p:nvSpPr>
          <p:cNvPr id="29" name="Text 26"/>
          <p:cNvSpPr/>
          <p:nvPr/>
        </p:nvSpPr>
        <p:spPr>
          <a:xfrm>
            <a:off x="9582912" y="1764792"/>
            <a:ext cx="148132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СПРАШИВАЙ</a:t>
            </a:r>
            <a:endParaRPr lang="en-US" sz="1500" dirty="0"/>
          </a:p>
        </p:txBody>
      </p:sp>
      <p:sp>
        <p:nvSpPr>
          <p:cNvPr id="30" name="Text 27"/>
          <p:cNvSpPr/>
          <p:nvPr/>
        </p:nvSpPr>
        <p:spPr>
          <a:xfrm>
            <a:off x="8979408" y="2286000"/>
            <a:ext cx="2066544" cy="2487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 говори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без обвинений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3529584" y="5330952"/>
            <a:ext cx="7516368" cy="384048"/>
          </a:xfrm>
          <a:prstGeom prst="roundRect">
            <a:avLst>
              <a:gd name="adj" fmla="val 28571"/>
            </a:avLst>
          </a:prstGeom>
          <a:solidFill>
            <a:srgbClr val="FF7A00"/>
          </a:solidFill>
          <a:ln w="12700">
            <a:solidFill>
              <a:srgbClr val="FF7A00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6D34AC">
                <a:alpha val="Infinity"/>
              </a:srgbClr>
            </a:outerShdw>
          </a:effectLst>
        </p:spPr>
      </p:sp>
      <p:sp>
        <p:nvSpPr>
          <p:cNvPr id="32" name="Text 29"/>
          <p:cNvSpPr/>
          <p:nvPr/>
        </p:nvSpPr>
        <p:spPr>
          <a:xfrm>
            <a:off x="3602736" y="5349240"/>
            <a:ext cx="73700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 ПРИЗНАК  +  1 ДОГАДКА  +  1 ВЕЖЛИВАЯ ПРОСЬБА</a:t>
            </a:r>
            <a:endParaRPr lang="en-US" sz="1550" dirty="0"/>
          </a:p>
        </p:txBody>
      </p:sp>
      <p:sp>
        <p:nvSpPr>
          <p:cNvPr id="33" name="Text 30"/>
          <p:cNvSpPr/>
          <p:nvPr/>
        </p:nvSpPr>
        <p:spPr>
          <a:xfrm>
            <a:off x="2029968" y="6053328"/>
            <a:ext cx="9052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Эмоции предлагают. ИИ предлагает версии. Выбор следующего шага остаётся за человеком.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ontserra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ontserra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Лаборатория ИИ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Эмоциональный интеллект и коммуникация</dc:title>
  <dc:subject>Урок 18. Эмоциональный интеллект и коммуникация</dc:subject>
  <dc:creator>OpenAI</dc:creator>
  <cp:lastModifiedBy>OpenAI</cp:lastModifiedBy>
  <cp:revision>1</cp:revision>
  <dcterms:created xsi:type="dcterms:W3CDTF">2026-10-18T08:59:15Z</dcterms:created>
  <dcterms:modified xsi:type="dcterms:W3CDTF">2026-10-18T08:59:15Z</dcterms:modified>
</cp:coreProperties>
</file>