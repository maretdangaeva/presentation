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hw2sz7W7nVk9A5gAvUsxJnQdK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68d788af7dcac5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h768d788af7dcac5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577d40d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8577d40d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974cdd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7974cdd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768d788af7dcac5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h768d788af7dcac5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768d788af7dcac5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768d788af7dcac5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7a45576984d5b6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h7a45576984d5b6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768d788af7dcac5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h768d788af7dcac5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768d788af7dcac53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768d788af7dcac5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768d788af7dcac53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768d788af7dcac53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7a45576984d5b6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h7a45576984d5b6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1f3bd84253bd1d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1f3bd84253bd1d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7a45576984d5b6f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h7a45576984d5b6f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a45576984d5b6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h7a45576984d5b6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7a45576984d5b6f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h7a45576984d5b6f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7a45576984d5b6f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h7a45576984d5b6f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7a45576984d5b6f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7a45576984d5b6f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7a45576984d5b6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h7a45576984d5b6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768d788af7dcac53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h768d788af7dcac5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974cdd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7974cdd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7a45576984d5b6f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h7a45576984d5b6f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a45576984d5b6f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h7a45576984d5b6f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7a45576984d5b6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h7a45576984d5b6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7a45576984d5b6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7a45576984d5b6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7a45576984d5b6f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7a45576984d5b6f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7a45576984d5b6f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7a45576984d5b6f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e7d868ec7_7_0)">
  <p:cSld name="Generated (g3ee7d868ec7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D34A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chat.qwen.ai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jp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 title="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12" y="0"/>
            <a:ext cx="92160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50" y="4404925"/>
            <a:ext cx="1590625" cy="280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57" name="Google Shape;57;p1"/>
          <p:cNvSpPr/>
          <p:nvPr/>
        </p:nvSpPr>
        <p:spPr>
          <a:xfrm>
            <a:off x="3086575" y="3871375"/>
            <a:ext cx="2970900" cy="813900"/>
          </a:xfrm>
          <a:prstGeom prst="roundRect">
            <a:avLst>
              <a:gd fmla="val 22433" name="adj"/>
            </a:avLst>
          </a:prstGeom>
          <a:gradFill>
            <a:gsLst>
              <a:gs pos="0">
                <a:srgbClr val="8E7CC3"/>
              </a:gs>
              <a:gs pos="100000">
                <a:srgbClr val="6D34AC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Урок </a:t>
            </a:r>
            <a:r>
              <a:rPr b="1"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r>
              <a:rPr b="1" i="0" lang="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Эмоциональный интеллект 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 коммуникация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 title="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25" y="-410800"/>
            <a:ext cx="1407200" cy="20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 title="Group-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549" y="4639725"/>
            <a:ext cx="1700825" cy="2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" title="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092"/>
            <a:ext cx="9144003" cy="5103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1974" y="302200"/>
            <a:ext cx="1700825" cy="2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 title="Neon Emotion Wheel Adven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2"/>
            <a:ext cx="9144001" cy="514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0325" y="4882800"/>
            <a:ext cx="1331925" cy="1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h768d788af7dcac53_1_1" title="Generated Image June 26, 2026 - 12_20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50" y="0"/>
            <a:ext cx="92154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h768d788af7dcac53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0325" y="4882800"/>
            <a:ext cx="1331925" cy="1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h768d788af7dcac53_1_1"/>
          <p:cNvSpPr txBox="1"/>
          <p:nvPr/>
        </p:nvSpPr>
        <p:spPr>
          <a:xfrm>
            <a:off x="4345225" y="1234925"/>
            <a:ext cx="4036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ru">
                <a:solidFill>
                  <a:srgbClr val="6D34AC"/>
                </a:solidFill>
                <a:latin typeface="Montserrat"/>
                <a:ea typeface="Montserrat"/>
                <a:cs typeface="Montserrat"/>
                <a:sym typeface="Montserrat"/>
              </a:rPr>
              <a:t>Вчера Спутник вернулся из города уверенным: «Теперь я вижу настроение любого человека!». </a:t>
            </a:r>
            <a:endParaRPr b="1" i="1">
              <a:solidFill>
                <a:srgbClr val="6D34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>
              <a:solidFill>
                <a:srgbClr val="6D34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ru">
                <a:solidFill>
                  <a:srgbClr val="6D34AC"/>
                </a:solidFill>
                <a:latin typeface="Montserrat"/>
                <a:ea typeface="Montserrat"/>
                <a:cs typeface="Montserrat"/>
                <a:sym typeface="Montserrat"/>
              </a:rPr>
              <a:t>Но его датчик выдал три разных ответа на одну фразу. </a:t>
            </a:r>
            <a:endParaRPr b="1" i="1">
              <a:solidFill>
                <a:srgbClr val="6D34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>
              <a:solidFill>
                <a:srgbClr val="6D34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ru">
                <a:solidFill>
                  <a:srgbClr val="6D34AC"/>
                </a:solidFill>
                <a:latin typeface="Montserrat"/>
                <a:ea typeface="Montserrat"/>
                <a:cs typeface="Montserrat"/>
                <a:sym typeface="Montserrat"/>
              </a:rPr>
              <a:t>Мне нужна ваша помощь: научите робота не угадывать слишком уверенно, а замечать признаки и задавать вопросы.</a:t>
            </a:r>
            <a:endParaRPr b="1" i="1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" title="Generated Image October 13, 2026 - 10_24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015" y="296618"/>
            <a:ext cx="1379624" cy="1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f8577d40d3_1_5" title="Generated Image October 11, 2026 - 10_06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12" y="0"/>
            <a:ext cx="92160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f8577d40d3_1_5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141" y="4620917"/>
            <a:ext cx="1289325" cy="1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f7974cdde6_0_26" title="Generated Image June 26, 2026 - 1_28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f7974cdde6_0_26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1586" y="4480200"/>
            <a:ext cx="1700825" cy="2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f7974cdde6_0_26">
            <a:hlinkClick r:id="rId5"/>
          </p:cNvPr>
          <p:cNvSpPr/>
          <p:nvPr/>
        </p:nvSpPr>
        <p:spPr>
          <a:xfrm>
            <a:off x="3300150" y="3914075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ВОЙТИ В НЕЙРОСЕТЬ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f7974cdde6_0_26"/>
          <p:cNvSpPr/>
          <p:nvPr/>
        </p:nvSpPr>
        <p:spPr>
          <a:xfrm>
            <a:off x="2960200" y="1963800"/>
            <a:ext cx="3321600" cy="1636500"/>
          </a:xfrm>
          <a:prstGeom prst="roundRect">
            <a:avLst>
              <a:gd fmla="val 16667" name="adj"/>
            </a:avLst>
          </a:prstGeom>
          <a:solidFill>
            <a:srgbClr val="2C233E"/>
          </a:solidFill>
          <a:ln cap="flat" cmpd="sng" w="9525">
            <a:solidFill>
              <a:srgbClr val="FFC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Узнай у разных нейросетей ответ на вопрос</a:t>
            </a:r>
            <a:endParaRPr b="1" i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h768d788af7dcac53_1_7" title="Generated Image October 11, 2026 - 10_09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12" y="0"/>
            <a:ext cx="92160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h768d788af7dcac53_1_7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141" y="4620917"/>
            <a:ext cx="1289325" cy="1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h768d788af7dcac53_1_17" title="Generated Image October 11, 2026 - 10_20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12" y="0"/>
            <a:ext cx="92160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h768d788af7dcac53_1_17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141" y="4620917"/>
            <a:ext cx="1289325" cy="1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h768d788af7dcac53_1_17">
            <a:hlinkClick r:id="rId5"/>
          </p:cNvPr>
          <p:cNvSpPr/>
          <p:nvPr/>
        </p:nvSpPr>
        <p:spPr>
          <a:xfrm>
            <a:off x="3300150" y="63450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НАЙДИ ОШИБКИ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h7a45576984d5b6fd_0_5" title="Generated Image June 26, 2026 - 1_28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h7a45576984d5b6fd_0_5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1586" y="4480200"/>
            <a:ext cx="1700825" cy="2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h7a45576984d5b6fd_0_5">
            <a:hlinkClick r:id="rId5"/>
          </p:cNvPr>
          <p:cNvSpPr/>
          <p:nvPr/>
        </p:nvSpPr>
        <p:spPr>
          <a:xfrm>
            <a:off x="3300150" y="3914075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ВОЙТИ В НЕЙРОСЕТЬ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h7a45576984d5b6fd_0_5"/>
          <p:cNvSpPr/>
          <p:nvPr/>
        </p:nvSpPr>
        <p:spPr>
          <a:xfrm>
            <a:off x="2960200" y="1963800"/>
            <a:ext cx="3321600" cy="1636500"/>
          </a:xfrm>
          <a:prstGeom prst="roundRect">
            <a:avLst>
              <a:gd fmla="val 16667" name="adj"/>
            </a:avLst>
          </a:prstGeom>
          <a:solidFill>
            <a:srgbClr val="2C233E"/>
          </a:solidFill>
          <a:ln cap="flat" cmpd="sng" w="9525">
            <a:solidFill>
              <a:srgbClr val="FFC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Проверь, насколько актуальные данные </a:t>
            </a:r>
            <a:b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 нейросетей</a:t>
            </a:r>
            <a:endParaRPr b="1" i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 title="Generated Image October 11, 2026 - 10_24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h768d788af7dcac53_1_28" title="Generated Image October 11, 2026 - 10_40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h768d788af7dcac53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h768d788af7dcac53_1_33" title="Generated Image October 11, 2026 - 10_47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h768d788af7dcac53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h768d788af7dcac53_1_38" title="Generated Image October 11, 2026 - 11_15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h768d788af7dcac53_1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h7a45576984d5b6fd_0_12" title="Generated Image June 26, 2026 - 1_28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h7a45576984d5b6fd_0_12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1586" y="4480200"/>
            <a:ext cx="1700825" cy="2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h7a45576984d5b6fd_0_12">
            <a:hlinkClick r:id="rId5"/>
          </p:cNvPr>
          <p:cNvSpPr/>
          <p:nvPr/>
        </p:nvSpPr>
        <p:spPr>
          <a:xfrm>
            <a:off x="3300150" y="3914075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ВОЙТИ В ЛАБ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h7a45576984d5b6fd_0_12"/>
          <p:cNvSpPr/>
          <p:nvPr/>
        </p:nvSpPr>
        <p:spPr>
          <a:xfrm>
            <a:off x="2960200" y="1963800"/>
            <a:ext cx="3321600" cy="1636500"/>
          </a:xfrm>
          <a:prstGeom prst="roundRect">
            <a:avLst>
              <a:gd fmla="val 16667" name="adj"/>
            </a:avLst>
          </a:prstGeom>
          <a:solidFill>
            <a:srgbClr val="2C233E"/>
          </a:solidFill>
          <a:ln cap="flat" cmpd="sng" w="9525">
            <a:solidFill>
              <a:srgbClr val="FFC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Выбери тему и составь к ней аргументы “ЗА”</a:t>
            </a:r>
            <a:endParaRPr b="1" i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h1f3bd84253bd1d86_0_0" title="Generated Image October 11, 2026 - 11_22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h1f3bd84253bd1d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h7a45576984d5b6fd_0_19" title="Generated Image June 26, 2026 - 1_28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h7a45576984d5b6fd_0_19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1586" y="4480200"/>
            <a:ext cx="1700825" cy="2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h7a45576984d5b6fd_0_19">
            <a:hlinkClick r:id="rId5"/>
          </p:cNvPr>
          <p:cNvSpPr/>
          <p:nvPr/>
        </p:nvSpPr>
        <p:spPr>
          <a:xfrm>
            <a:off x="3300150" y="3914075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ВОЙТИ В ЛАБ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h7a45576984d5b6fd_0_19"/>
          <p:cNvSpPr/>
          <p:nvPr/>
        </p:nvSpPr>
        <p:spPr>
          <a:xfrm>
            <a:off x="2960200" y="1963800"/>
            <a:ext cx="3321600" cy="1636500"/>
          </a:xfrm>
          <a:prstGeom prst="roundRect">
            <a:avLst>
              <a:gd fmla="val 16667" name="adj"/>
            </a:avLst>
          </a:prstGeom>
          <a:solidFill>
            <a:srgbClr val="2C233E"/>
          </a:solidFill>
          <a:ln cap="flat" cmpd="sng" w="9525">
            <a:solidFill>
              <a:srgbClr val="FFC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Составь к своей теме аргументы “ПРОТИВ”</a:t>
            </a:r>
            <a:endParaRPr b="1" i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h7a45576984d5b6fd_0_0" title="Generated Image October 11, 2026 - 9_44P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h7a45576984d5b6f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h7a45576984d5b6fd_0_31" title="Generated Image October 13, 2026 - 10_31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h7a45576984d5b6fd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h7a45576984d5b6fd_0_46" title="Generated Image June 26, 2026 - 1_28AM 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00"/>
            <a:ext cx="9144003" cy="5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h7a45576984d5b6fd_0_46" title="Group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1586" y="4480200"/>
            <a:ext cx="1700825" cy="2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h7a45576984d5b6fd_0_46">
            <a:hlinkClick r:id="rId5"/>
          </p:cNvPr>
          <p:cNvSpPr/>
          <p:nvPr/>
        </p:nvSpPr>
        <p:spPr>
          <a:xfrm>
            <a:off x="3300150" y="3914075"/>
            <a:ext cx="2543700" cy="49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19050">
              <a:srgbClr val="6D34AC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ВОЙТИ В ЛАБ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h7a45576984d5b6fd_0_46"/>
          <p:cNvSpPr/>
          <p:nvPr/>
        </p:nvSpPr>
        <p:spPr>
          <a:xfrm>
            <a:off x="2960200" y="1963800"/>
            <a:ext cx="3321600" cy="1636500"/>
          </a:xfrm>
          <a:prstGeom prst="roundRect">
            <a:avLst>
              <a:gd fmla="val 16667" name="adj"/>
            </a:avLst>
          </a:prstGeom>
          <a:solidFill>
            <a:srgbClr val="2C233E"/>
          </a:solidFill>
          <a:ln cap="flat" cmpd="sng" w="9525">
            <a:solidFill>
              <a:srgbClr val="FFC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Найди золотую середину своей темы, чтобы она приносила только пользу</a:t>
            </a:r>
            <a:endParaRPr b="1" i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h7a45576984d5b6fd_0_26" title="Generated Image October 13, 2026 - 10_49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h7a45576984d5b6fd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275" y="46358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h7a45576984d5b6fd_0_36" title="Generated Image October 13, 2026 - 10_54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h7a45576984d5b6fd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8400" y="4848725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h768d788af7dcac53_1_23" title="Robot_relaxing_on_bean_bag_202608111543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h768d788af7dcac53_1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250" y="267775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f7974cdde6_0_6" title="Generated Image October 13, 2026 - 11_06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f7974cdde6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h7a45576984d5b6fd_0_73" title="Generated Image October 13, 2026 - 11_11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h7a45576984d5b6fd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h7a45576984d5b6fd_0_86" title="Gemini_Generated_Image_dpoeigdpoeigdpo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h7a45576984d5b6fd_0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600" y="331425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h7a45576984d5b6fd_0_53" title="Generated Image October 13, 2026 - 11_27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h7a45576984d5b6fd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h7a45576984d5b6fd_0_58" title="Generated Image October 13, 2026 - 11_30A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h7a45576984d5b6fd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h7a45576984d5b6fd_0_63" title="Robotic_cat_holding_microphone_2K_202607180552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000" y="0"/>
            <a:ext cx="9216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h7a45576984d5b6fd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h7a45576984d5b6fd_0_68" title="Creative Superhero Planner Worksh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3"/>
            <a:ext cx="9144001" cy="5146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h7a45576984d5b6fd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75" y="275400"/>
            <a:ext cx="1407200" cy="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